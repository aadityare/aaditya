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76" r:id="rId15"/>
    <p:sldId id="269" r:id="rId16"/>
    <p:sldId id="270" r:id="rId17"/>
    <p:sldId id="271" r:id="rId18"/>
    <p:sldId id="272" r:id="rId19"/>
    <p:sldId id="273" r:id="rId20"/>
    <p:sldId id="274" r:id="rId21"/>
    <p:sldId id="275" r:id="rId22"/>
    <p:sldId id="278" r:id="rId23"/>
    <p:sldId id="279" r:id="rId2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AA3A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16" autoAdjust="0"/>
  </p:normalViewPr>
  <p:slideViewPr>
    <p:cSldViewPr snapToGrid="0">
      <p:cViewPr>
        <p:scale>
          <a:sx n="75" d="100"/>
          <a:sy n="75" d="100"/>
        </p:scale>
        <p:origin x="3156" y="13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0C0DBA-F8E3-4927-A933-AAD769D93AF9}" type="datetimeFigureOut">
              <a:rPr lang="en-US" smtClean="0"/>
              <a:t>12/25/2025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F54A19-3C9A-456F-8C88-BE9A97461440}" type="slidenum">
              <a:rPr lang="en-US" smtClean="0"/>
              <a:t>‹#›</a:t>
            </a:fld>
            <a:endParaRPr lang="en-US"/>
          </a:p>
        </p:txBody>
      </p:sp>
    </p:spTree>
    <p:extLst>
      <p:ext uri="{BB962C8B-B14F-4D97-AF65-F5344CB8AC3E}">
        <p14:creationId xmlns:p14="http://schemas.microsoft.com/office/powerpoint/2010/main" val="89328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F54A19-3C9A-456F-8C88-BE9A97461440}" type="slidenum">
              <a:rPr lang="en-US" smtClean="0"/>
              <a:t>7</a:t>
            </a:fld>
            <a:endParaRPr lang="en-US"/>
          </a:p>
        </p:txBody>
      </p:sp>
    </p:spTree>
    <p:extLst>
      <p:ext uri="{BB962C8B-B14F-4D97-AF65-F5344CB8AC3E}">
        <p14:creationId xmlns:p14="http://schemas.microsoft.com/office/powerpoint/2010/main" val="3878354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213A-52F1-FAA8-0745-26337F46B8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DAA15-8778-B3BF-1495-C2B075044D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CA4BC08-6541-ACEC-B840-F156F8378C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CE0E08-F3DE-8D9A-C3FC-14BB724E44DC}"/>
              </a:ext>
            </a:extLst>
          </p:cNvPr>
          <p:cNvSpPr>
            <a:spLocks noGrp="1"/>
          </p:cNvSpPr>
          <p:nvPr>
            <p:ph type="sldNum" sz="quarter" idx="5"/>
          </p:nvPr>
        </p:nvSpPr>
        <p:spPr/>
        <p:txBody>
          <a:bodyPr/>
          <a:lstStyle/>
          <a:p>
            <a:fld id="{1BF54A19-3C9A-456F-8C88-BE9A97461440}" type="slidenum">
              <a:rPr lang="en-US" smtClean="0"/>
              <a:t>8</a:t>
            </a:fld>
            <a:endParaRPr lang="en-US"/>
          </a:p>
        </p:txBody>
      </p:sp>
    </p:spTree>
    <p:extLst>
      <p:ext uri="{BB962C8B-B14F-4D97-AF65-F5344CB8AC3E}">
        <p14:creationId xmlns:p14="http://schemas.microsoft.com/office/powerpoint/2010/main" val="14350398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89D95-77D2-FBB7-0AB3-BA348CE7F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0A085-D574-031B-096D-D94F2A1BCA8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7032ACC-3B48-B5E8-C7E0-8A6D61BDDB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099DDE-5C61-8843-0D03-8CFACEFA92C9}"/>
              </a:ext>
            </a:extLst>
          </p:cNvPr>
          <p:cNvSpPr>
            <a:spLocks noGrp="1"/>
          </p:cNvSpPr>
          <p:nvPr>
            <p:ph type="sldNum" sz="quarter" idx="5"/>
          </p:nvPr>
        </p:nvSpPr>
        <p:spPr/>
        <p:txBody>
          <a:bodyPr/>
          <a:lstStyle/>
          <a:p>
            <a:fld id="{1BF54A19-3C9A-456F-8C88-BE9A97461440}" type="slidenum">
              <a:rPr lang="en-US" smtClean="0"/>
              <a:t>9</a:t>
            </a:fld>
            <a:endParaRPr lang="en-US"/>
          </a:p>
        </p:txBody>
      </p:sp>
    </p:spTree>
    <p:extLst>
      <p:ext uri="{BB962C8B-B14F-4D97-AF65-F5344CB8AC3E}">
        <p14:creationId xmlns:p14="http://schemas.microsoft.com/office/powerpoint/2010/main" val="2125267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840E2-781F-E08B-0345-7A82E4991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949FCB-B105-93EA-9B21-22C34C1F3A1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4F01D1C-9B2E-4FD6-AC1F-515D29E6EC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F0F739-9159-4963-37F5-3F5ED492DDC4}"/>
              </a:ext>
            </a:extLst>
          </p:cNvPr>
          <p:cNvSpPr>
            <a:spLocks noGrp="1"/>
          </p:cNvSpPr>
          <p:nvPr>
            <p:ph type="sldNum" sz="quarter" idx="5"/>
          </p:nvPr>
        </p:nvSpPr>
        <p:spPr/>
        <p:txBody>
          <a:bodyPr/>
          <a:lstStyle/>
          <a:p>
            <a:fld id="{1BF54A19-3C9A-456F-8C88-BE9A97461440}" type="slidenum">
              <a:rPr lang="en-US" smtClean="0"/>
              <a:t>10</a:t>
            </a:fld>
            <a:endParaRPr lang="en-US"/>
          </a:p>
        </p:txBody>
      </p:sp>
    </p:spTree>
    <p:extLst>
      <p:ext uri="{BB962C8B-B14F-4D97-AF65-F5344CB8AC3E}">
        <p14:creationId xmlns:p14="http://schemas.microsoft.com/office/powerpoint/2010/main" val="3474565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8B9095-6C0B-4765-8836-A716F3773423}"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4223298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B9095-6C0B-4765-8836-A716F3773423}"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281872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8B9095-6C0B-4765-8836-A716F3773423}"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299023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8B9095-6C0B-4765-8836-A716F3773423}"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3706341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8B9095-6C0B-4765-8836-A716F3773423}" type="datetimeFigureOut">
              <a:rPr lang="en-US" smtClean="0"/>
              <a:t>12/25/2025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3695775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8B9095-6C0B-4765-8836-A716F3773423}" type="datetimeFigureOut">
              <a:rPr lang="en-US" smtClean="0"/>
              <a:t>12/25/2025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3608446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8B9095-6C0B-4765-8836-A716F3773423}" type="datetimeFigureOut">
              <a:rPr lang="en-US" smtClean="0"/>
              <a:t>12/25/2025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1059574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A8B9095-6C0B-4765-8836-A716F3773423}"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37055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A8B9095-6C0B-4765-8836-A716F3773423}" type="datetimeFigureOut">
              <a:rPr lang="en-US" smtClean="0"/>
              <a:t>12/25/2025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2868513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B9095-6C0B-4765-8836-A716F3773423}"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3436290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8B9095-6C0B-4765-8836-A716F3773423}" type="datetimeFigureOut">
              <a:rPr lang="en-US" smtClean="0"/>
              <a:t>12/25/2025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C93E93-9312-4251-B0F8-E422FD6545E9}" type="slidenum">
              <a:rPr lang="en-US" smtClean="0"/>
              <a:t>‹#›</a:t>
            </a:fld>
            <a:endParaRPr lang="en-US"/>
          </a:p>
        </p:txBody>
      </p:sp>
    </p:spTree>
    <p:extLst>
      <p:ext uri="{BB962C8B-B14F-4D97-AF65-F5344CB8AC3E}">
        <p14:creationId xmlns:p14="http://schemas.microsoft.com/office/powerpoint/2010/main" val="3037133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9D9D9"/>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9A8B9095-6C0B-4765-8836-A716F3773423}" type="datetimeFigureOut">
              <a:rPr lang="en-US" smtClean="0"/>
              <a:t>12/25/2025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B5C93E93-9312-4251-B0F8-E422FD6545E9}" type="slidenum">
              <a:rPr lang="en-US" smtClean="0"/>
              <a:t>‹#›</a:t>
            </a:fld>
            <a:endParaRPr lang="en-US"/>
          </a:p>
        </p:txBody>
      </p:sp>
    </p:spTree>
    <p:extLst>
      <p:ext uri="{BB962C8B-B14F-4D97-AF65-F5344CB8AC3E}">
        <p14:creationId xmlns:p14="http://schemas.microsoft.com/office/powerpoint/2010/main" val="40855439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x.com/_buildspace/status/1820332208831254892"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image" Target="../media/image4.png"/><Relationship Id="rId16"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5.png"/><Relationship Id="rId7"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1A836A-89C6-C982-760E-8A08EC2DE8F7}"/>
              </a:ext>
            </a:extLst>
          </p:cNvPr>
          <p:cNvSpPr txBox="1"/>
          <p:nvPr/>
        </p:nvSpPr>
        <p:spPr>
          <a:xfrm>
            <a:off x="1376194" y="4399002"/>
            <a:ext cx="4105611" cy="1107996"/>
          </a:xfrm>
          <a:prstGeom prst="rect">
            <a:avLst/>
          </a:prstGeom>
          <a:noFill/>
        </p:spPr>
        <p:txBody>
          <a:bodyPr wrap="none" rtlCol="0">
            <a:spAutoFit/>
          </a:bodyPr>
          <a:lstStyle/>
          <a:p>
            <a:r>
              <a:rPr lang="en-US" sz="6600" b="1" spc="-500" dirty="0">
                <a:solidFill>
                  <a:srgbClr val="AA3A1C"/>
                </a:solidFill>
                <a:latin typeface="Hanken Grotesk SemiBold" pitchFamily="2" charset="0"/>
              </a:rPr>
              <a:t>PORTFOLIO</a:t>
            </a:r>
          </a:p>
        </p:txBody>
      </p:sp>
      <p:sp>
        <p:nvSpPr>
          <p:cNvPr id="7" name="TextBox 6">
            <a:extLst>
              <a:ext uri="{FF2B5EF4-FFF2-40B4-BE49-F238E27FC236}">
                <a16:creationId xmlns:a16="http://schemas.microsoft.com/office/drawing/2014/main" id="{0A36DD8E-370E-2E0C-65F1-BC5A681E4A25}"/>
              </a:ext>
            </a:extLst>
          </p:cNvPr>
          <p:cNvSpPr txBox="1"/>
          <p:nvPr/>
        </p:nvSpPr>
        <p:spPr>
          <a:xfrm>
            <a:off x="2273072" y="5506998"/>
            <a:ext cx="2311851" cy="400110"/>
          </a:xfrm>
          <a:prstGeom prst="rect">
            <a:avLst/>
          </a:prstGeom>
          <a:noFill/>
        </p:spPr>
        <p:txBody>
          <a:bodyPr wrap="none" rtlCol="0">
            <a:spAutoFit/>
          </a:bodyPr>
          <a:lstStyle/>
          <a:p>
            <a:pPr algn="ctr"/>
            <a:r>
              <a:rPr lang="en-US" sz="2000" spc="-150" dirty="0">
                <a:solidFill>
                  <a:srgbClr val="AA3A1C"/>
                </a:solidFill>
                <a:latin typeface="Hanken Grotesk Medium" pitchFamily="2" charset="0"/>
              </a:rPr>
              <a:t>(CURRICULUM VITAE)</a:t>
            </a:r>
          </a:p>
        </p:txBody>
      </p:sp>
      <p:sp>
        <p:nvSpPr>
          <p:cNvPr id="8" name="TextBox 7">
            <a:extLst>
              <a:ext uri="{FF2B5EF4-FFF2-40B4-BE49-F238E27FC236}">
                <a16:creationId xmlns:a16="http://schemas.microsoft.com/office/drawing/2014/main" id="{C5B2F1B2-18CB-4AFC-4829-D8A75016AA9F}"/>
              </a:ext>
            </a:extLst>
          </p:cNvPr>
          <p:cNvSpPr txBox="1"/>
          <p:nvPr/>
        </p:nvSpPr>
        <p:spPr>
          <a:xfrm>
            <a:off x="323711" y="8202182"/>
            <a:ext cx="2356735" cy="400110"/>
          </a:xfrm>
          <a:prstGeom prst="rect">
            <a:avLst/>
          </a:prstGeom>
          <a:noFill/>
        </p:spPr>
        <p:txBody>
          <a:bodyPr wrap="none" rtlCol="0">
            <a:spAutoFit/>
          </a:bodyPr>
          <a:lstStyle/>
          <a:p>
            <a:r>
              <a:rPr lang="en-US" sz="2000" spc="-150" dirty="0">
                <a:solidFill>
                  <a:srgbClr val="AA3A1C"/>
                </a:solidFill>
                <a:latin typeface="Hanken Grotesk SemiBold" pitchFamily="2" charset="0"/>
              </a:rPr>
              <a:t>// DECEMBER 2025 //</a:t>
            </a:r>
          </a:p>
        </p:txBody>
      </p:sp>
      <p:sp>
        <p:nvSpPr>
          <p:cNvPr id="9" name="TextBox 8">
            <a:extLst>
              <a:ext uri="{FF2B5EF4-FFF2-40B4-BE49-F238E27FC236}">
                <a16:creationId xmlns:a16="http://schemas.microsoft.com/office/drawing/2014/main" id="{2331AAA7-97D2-B21C-FC87-935739763713}"/>
              </a:ext>
            </a:extLst>
          </p:cNvPr>
          <p:cNvSpPr txBox="1"/>
          <p:nvPr/>
        </p:nvSpPr>
        <p:spPr>
          <a:xfrm>
            <a:off x="3693447" y="8602292"/>
            <a:ext cx="2840842" cy="707886"/>
          </a:xfrm>
          <a:prstGeom prst="rect">
            <a:avLst/>
          </a:prstGeom>
          <a:noFill/>
        </p:spPr>
        <p:txBody>
          <a:bodyPr wrap="none" rtlCol="0">
            <a:spAutoFit/>
          </a:bodyPr>
          <a:lstStyle/>
          <a:p>
            <a:pPr algn="r"/>
            <a:r>
              <a:rPr lang="en-US" sz="2000" spc="-150" dirty="0">
                <a:solidFill>
                  <a:srgbClr val="AA3A1C"/>
                </a:solidFill>
                <a:latin typeface="Hanken Grotesk SemiBold" pitchFamily="2" charset="0"/>
              </a:rPr>
              <a:t>// AADITYA RENGARAJAN</a:t>
            </a:r>
          </a:p>
          <a:p>
            <a:pPr algn="r"/>
            <a:r>
              <a:rPr lang="en-US" sz="2000" spc="-150" dirty="0">
                <a:solidFill>
                  <a:srgbClr val="AA3A1C"/>
                </a:solidFill>
                <a:latin typeface="Hanken Grotesk SemiBold" pitchFamily="2" charset="0"/>
              </a:rPr>
              <a:t>BROOKLYN, NEW YORK</a:t>
            </a:r>
          </a:p>
        </p:txBody>
      </p:sp>
    </p:spTree>
    <p:extLst>
      <p:ext uri="{BB962C8B-B14F-4D97-AF65-F5344CB8AC3E}">
        <p14:creationId xmlns:p14="http://schemas.microsoft.com/office/powerpoint/2010/main" val="1636706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2FAE-4E07-8823-96B6-E39D447CCE1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97F157C-B887-CE3E-3216-DD82D428003D}"/>
              </a:ext>
            </a:extLst>
          </p:cNvPr>
          <p:cNvSpPr txBox="1"/>
          <p:nvPr/>
        </p:nvSpPr>
        <p:spPr>
          <a:xfrm>
            <a:off x="323711" y="472711"/>
            <a:ext cx="2924198" cy="830997"/>
          </a:xfrm>
          <a:prstGeom prst="rect">
            <a:avLst/>
          </a:prstGeom>
          <a:noFill/>
        </p:spPr>
        <p:txBody>
          <a:bodyPr wrap="none" rtlCol="0">
            <a:spAutoFit/>
          </a:bodyPr>
          <a:lstStyle/>
          <a:p>
            <a:r>
              <a:rPr lang="en-US" sz="4800" b="1" spc="-300" dirty="0">
                <a:solidFill>
                  <a:srgbClr val="AA3A1C"/>
                </a:solidFill>
                <a:latin typeface="Hanken Grotesk SemiBold" pitchFamily="2" charset="0"/>
              </a:rPr>
              <a:t>ABOUT ME</a:t>
            </a:r>
          </a:p>
        </p:txBody>
      </p:sp>
      <p:sp>
        <p:nvSpPr>
          <p:cNvPr id="7" name="TextBox 6">
            <a:extLst>
              <a:ext uri="{FF2B5EF4-FFF2-40B4-BE49-F238E27FC236}">
                <a16:creationId xmlns:a16="http://schemas.microsoft.com/office/drawing/2014/main" id="{6B9AACD0-A372-D864-2903-D2A477A2FDF9}"/>
              </a:ext>
            </a:extLst>
          </p:cNvPr>
          <p:cNvSpPr txBox="1"/>
          <p:nvPr/>
        </p:nvSpPr>
        <p:spPr>
          <a:xfrm>
            <a:off x="651353" y="2425594"/>
            <a:ext cx="5692297" cy="7171194"/>
          </a:xfrm>
          <a:prstGeom prst="rect">
            <a:avLst/>
          </a:prstGeom>
          <a:noFill/>
        </p:spPr>
        <p:txBody>
          <a:bodyPr wrap="square" rtlCol="0">
            <a:spAutoFit/>
          </a:bodyPr>
          <a:lstStyle/>
          <a:p>
            <a:pPr algn="r"/>
            <a:r>
              <a:rPr lang="en-US" sz="2000" spc="-150" dirty="0">
                <a:latin typeface="Hanken Grotesk SemiBold" pitchFamily="2" charset="0"/>
              </a:rPr>
              <a:t>AADITYA IS A CYBERSECURITY ENGINEER AND Al</a:t>
            </a:r>
          </a:p>
          <a:p>
            <a:pPr algn="r"/>
            <a:r>
              <a:rPr lang="en-US" sz="2000" spc="-150" dirty="0">
                <a:latin typeface="Hanken Grotesk SemiBold" pitchFamily="2" charset="0"/>
              </a:rPr>
              <a:t>RESEARCHER WITH CORE SKILLS IN OFFSEC, SECURE WEB DEV, AND SCALABLE SYSTEMS.</a:t>
            </a:r>
          </a:p>
          <a:p>
            <a:pPr algn="r"/>
            <a:endParaRPr lang="en-US" sz="2000" spc="-150" dirty="0">
              <a:latin typeface="Hanken Grotesk SemiBold" pitchFamily="2" charset="0"/>
            </a:endParaRPr>
          </a:p>
          <a:p>
            <a:pPr algn="r"/>
            <a:r>
              <a:rPr lang="en-US" sz="2000" spc="-150" dirty="0">
                <a:latin typeface="Hanken Grotesk SemiBold" pitchFamily="2" charset="0"/>
              </a:rPr>
              <a:t>HE'S PROFICIENT IN BUILDING AI-POWERED</a:t>
            </a:r>
          </a:p>
          <a:p>
            <a:pPr algn="r"/>
            <a:r>
              <a:rPr lang="en-US" sz="2000" spc="-150" dirty="0">
                <a:latin typeface="Hanken Grotesk SemiBold" pitchFamily="2" charset="0"/>
              </a:rPr>
              <a:t>SECURITY TOOLS OR SECURITY-FOCUSED AI USING DEEP LEARNING, DEEP RL, AND AGENTIC Al ARCHITECTURES. HIS WORK AT ISRO, INTEL &amp; NSD BLENDS CAUSAL INFERENCE, PRIVACY PRESERVING ML, AND CONSTRAINT-BASED Al MODELS TO TACKLE REAL-WORLD SECURITY CHALLENGES.</a:t>
            </a:r>
          </a:p>
          <a:p>
            <a:pPr algn="r"/>
            <a:endParaRPr lang="en-US" sz="2000" spc="-150" dirty="0">
              <a:latin typeface="Hanken Grotesk SemiBold" pitchFamily="2" charset="0"/>
            </a:endParaRPr>
          </a:p>
          <a:p>
            <a:pPr algn="r"/>
            <a:r>
              <a:rPr lang="en-US" sz="2000" spc="-150" dirty="0">
                <a:latin typeface="Hanken Grotesk SemiBold" pitchFamily="2" charset="0"/>
              </a:rPr>
              <a:t>AS A TRAINER AND SPEAKER, HE'S EDUCATED</a:t>
            </a:r>
          </a:p>
          <a:p>
            <a:pPr algn="r"/>
            <a:r>
              <a:rPr lang="en-US" sz="2000" spc="-150" dirty="0">
                <a:latin typeface="Hanken Grotesk SemiBold" pitchFamily="2" charset="0"/>
              </a:rPr>
              <a:t>500+ STUDENTS AND DELIVERED TALKS AT</a:t>
            </a:r>
          </a:p>
          <a:p>
            <a:pPr algn="r"/>
            <a:r>
              <a:rPr lang="en-US" sz="2000" spc="-150" dirty="0">
                <a:latin typeface="Hanken Grotesk SemiBold" pitchFamily="2" charset="0"/>
              </a:rPr>
              <a:t>OWASP, NULLCON, AND NATIONAL FORUMS.</a:t>
            </a:r>
          </a:p>
          <a:p>
            <a:pPr algn="r"/>
            <a:endParaRPr lang="en-US" sz="2000" spc="-150" dirty="0">
              <a:latin typeface="Hanken Grotesk SemiBold" pitchFamily="2" charset="0"/>
            </a:endParaRPr>
          </a:p>
          <a:p>
            <a:pPr algn="r"/>
            <a:r>
              <a:rPr lang="en-US" sz="2000" spc="-150" dirty="0">
                <a:latin typeface="Hanken Grotesk SemiBold" pitchFamily="2" charset="0"/>
              </a:rPr>
              <a:t>HE ACTIVELY BUILDS OPEN-SOURCE SOFTWARE, LEADS SECURITY COMMUNITIES AS PRESIDENT OF THE NYU CYBERSECURITY CLUB, AND CONTRIBUTES TO OFFENSIVE SECURITY RESEARCH THROUGH THE OSIRIS LAB. HIS INTERESTS CENTER ON BUILDING RESILIENT, SCALABLE, AND REAL-WORLD SECURITY AND AI SYSTEMS.</a:t>
            </a:r>
          </a:p>
        </p:txBody>
      </p:sp>
      <p:sp>
        <p:nvSpPr>
          <p:cNvPr id="2" name="TextBox 1">
            <a:extLst>
              <a:ext uri="{FF2B5EF4-FFF2-40B4-BE49-F238E27FC236}">
                <a16:creationId xmlns:a16="http://schemas.microsoft.com/office/drawing/2014/main" id="{7CF9C114-E420-3D57-7272-63E95850491D}"/>
              </a:ext>
            </a:extLst>
          </p:cNvPr>
          <p:cNvSpPr txBox="1"/>
          <p:nvPr/>
        </p:nvSpPr>
        <p:spPr>
          <a:xfrm>
            <a:off x="3151517" y="399642"/>
            <a:ext cx="554960"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a:t>
            </a:r>
          </a:p>
        </p:txBody>
      </p:sp>
      <p:sp>
        <p:nvSpPr>
          <p:cNvPr id="3" name="TextBox 2">
            <a:extLst>
              <a:ext uri="{FF2B5EF4-FFF2-40B4-BE49-F238E27FC236}">
                <a16:creationId xmlns:a16="http://schemas.microsoft.com/office/drawing/2014/main" id="{82CBB7B0-32A5-449C-0870-D6A557E4C4A7}"/>
              </a:ext>
            </a:extLst>
          </p:cNvPr>
          <p:cNvSpPr txBox="1"/>
          <p:nvPr/>
        </p:nvSpPr>
        <p:spPr>
          <a:xfrm>
            <a:off x="5113868" y="888209"/>
            <a:ext cx="1175322"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(1)</a:t>
            </a:r>
          </a:p>
        </p:txBody>
      </p:sp>
      <p:sp>
        <p:nvSpPr>
          <p:cNvPr id="5" name="Title 4">
            <a:extLst>
              <a:ext uri="{FF2B5EF4-FFF2-40B4-BE49-F238E27FC236}">
                <a16:creationId xmlns:a16="http://schemas.microsoft.com/office/drawing/2014/main" id="{40A1941C-39F1-6BE9-23EB-BCADCCC3F2E5}"/>
              </a:ext>
            </a:extLst>
          </p:cNvPr>
          <p:cNvSpPr>
            <a:spLocks noGrp="1"/>
          </p:cNvSpPr>
          <p:nvPr>
            <p:ph type="ctrTitle"/>
          </p:nvPr>
        </p:nvSpPr>
        <p:spPr/>
        <p:txBody>
          <a:bodyPr/>
          <a:lstStyle/>
          <a:p>
            <a:r>
              <a:rPr lang="en-US" dirty="0"/>
              <a:t>		</a:t>
            </a:r>
          </a:p>
        </p:txBody>
      </p:sp>
    </p:spTree>
    <p:extLst>
      <p:ext uri="{BB962C8B-B14F-4D97-AF65-F5344CB8AC3E}">
        <p14:creationId xmlns:p14="http://schemas.microsoft.com/office/powerpoint/2010/main" val="915024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A87CE-29A4-5ABB-4974-1C4E453E46C9}"/>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1945B5F-199E-9A0C-A25F-8B5EE10DF580}"/>
              </a:ext>
            </a:extLst>
          </p:cNvPr>
          <p:cNvSpPr txBox="1"/>
          <p:nvPr/>
        </p:nvSpPr>
        <p:spPr>
          <a:xfrm>
            <a:off x="323711" y="472711"/>
            <a:ext cx="3382766" cy="1446550"/>
          </a:xfrm>
          <a:prstGeom prst="rect">
            <a:avLst/>
          </a:prstGeom>
          <a:noFill/>
        </p:spPr>
        <p:txBody>
          <a:bodyPr wrap="square" rtlCol="0">
            <a:spAutoFit/>
          </a:bodyPr>
          <a:lstStyle/>
          <a:p>
            <a:r>
              <a:rPr lang="en-US" sz="4400" b="1" spc="-300" dirty="0">
                <a:solidFill>
                  <a:srgbClr val="AA3A1C"/>
                </a:solidFill>
                <a:latin typeface="Hanken Grotesk SemiBold" pitchFamily="2" charset="0"/>
              </a:rPr>
              <a:t>SCHOOLS I’VE BEEN TO</a:t>
            </a:r>
          </a:p>
        </p:txBody>
      </p:sp>
      <p:sp>
        <p:nvSpPr>
          <p:cNvPr id="2" name="TextBox 1">
            <a:extLst>
              <a:ext uri="{FF2B5EF4-FFF2-40B4-BE49-F238E27FC236}">
                <a16:creationId xmlns:a16="http://schemas.microsoft.com/office/drawing/2014/main" id="{75D40F3E-1940-A54D-1DC1-84A38832F128}"/>
              </a:ext>
            </a:extLst>
          </p:cNvPr>
          <p:cNvSpPr txBox="1"/>
          <p:nvPr/>
        </p:nvSpPr>
        <p:spPr>
          <a:xfrm>
            <a:off x="3412688" y="1118957"/>
            <a:ext cx="484428" cy="1107996"/>
          </a:xfrm>
          <a:prstGeom prst="rect">
            <a:avLst/>
          </a:prstGeom>
          <a:noFill/>
        </p:spPr>
        <p:txBody>
          <a:bodyPr wrap="none" rtlCol="0">
            <a:spAutoFit/>
          </a:bodyPr>
          <a:lstStyle/>
          <a:p>
            <a:r>
              <a:rPr lang="en-US" sz="6600" b="1" spc="-300" dirty="0">
                <a:solidFill>
                  <a:srgbClr val="AA3A1C"/>
                </a:solidFill>
                <a:latin typeface="Hanken Grotesk SemiBold" pitchFamily="2" charset="0"/>
              </a:rPr>
              <a:t>*</a:t>
            </a:r>
          </a:p>
        </p:txBody>
      </p:sp>
      <p:sp>
        <p:nvSpPr>
          <p:cNvPr id="3" name="TextBox 2">
            <a:extLst>
              <a:ext uri="{FF2B5EF4-FFF2-40B4-BE49-F238E27FC236}">
                <a16:creationId xmlns:a16="http://schemas.microsoft.com/office/drawing/2014/main" id="{412DF14D-0955-20FC-4D66-453A2F440B1C}"/>
              </a:ext>
            </a:extLst>
          </p:cNvPr>
          <p:cNvSpPr txBox="1"/>
          <p:nvPr/>
        </p:nvSpPr>
        <p:spPr>
          <a:xfrm>
            <a:off x="5168328" y="8381902"/>
            <a:ext cx="1175322"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(2)</a:t>
            </a:r>
          </a:p>
        </p:txBody>
      </p:sp>
      <p:sp>
        <p:nvSpPr>
          <p:cNvPr id="5" name="Title 4">
            <a:extLst>
              <a:ext uri="{FF2B5EF4-FFF2-40B4-BE49-F238E27FC236}">
                <a16:creationId xmlns:a16="http://schemas.microsoft.com/office/drawing/2014/main" id="{7461A769-7148-4FD5-EBE4-51370D7B0DB1}"/>
              </a:ext>
            </a:extLst>
          </p:cNvPr>
          <p:cNvSpPr>
            <a:spLocks noGrp="1"/>
          </p:cNvSpPr>
          <p:nvPr>
            <p:ph type="ctrTitle"/>
          </p:nvPr>
        </p:nvSpPr>
        <p:spPr/>
        <p:txBody>
          <a:bodyPr/>
          <a:lstStyle/>
          <a:p>
            <a:r>
              <a:rPr lang="en-US" dirty="0"/>
              <a:t>		</a:t>
            </a:r>
          </a:p>
        </p:txBody>
      </p:sp>
      <p:grpSp>
        <p:nvGrpSpPr>
          <p:cNvPr id="12" name="Group 11">
            <a:extLst>
              <a:ext uri="{FF2B5EF4-FFF2-40B4-BE49-F238E27FC236}">
                <a16:creationId xmlns:a16="http://schemas.microsoft.com/office/drawing/2014/main" id="{81D178C2-9BE9-1FDF-38F1-60F892F7A459}"/>
              </a:ext>
            </a:extLst>
          </p:cNvPr>
          <p:cNvGrpSpPr/>
          <p:nvPr/>
        </p:nvGrpSpPr>
        <p:grpSpPr>
          <a:xfrm>
            <a:off x="651353" y="6118773"/>
            <a:ext cx="5692297" cy="2383588"/>
            <a:chOff x="651353" y="2165665"/>
            <a:chExt cx="5692297" cy="2383588"/>
          </a:xfrm>
        </p:grpSpPr>
        <p:pic>
          <p:nvPicPr>
            <p:cNvPr id="6" name="Picture 5">
              <a:extLst>
                <a:ext uri="{FF2B5EF4-FFF2-40B4-BE49-F238E27FC236}">
                  <a16:creationId xmlns:a16="http://schemas.microsoft.com/office/drawing/2014/main" id="{2C2C26C0-4A16-48F3-780D-094891CC1D5B}"/>
                </a:ext>
              </a:extLst>
            </p:cNvPr>
            <p:cNvPicPr>
              <a:picLocks noChangeAspect="1"/>
            </p:cNvPicPr>
            <p:nvPr/>
          </p:nvPicPr>
          <p:blipFill>
            <a:blip r:embed="rId2"/>
            <a:stretch>
              <a:fillRect/>
            </a:stretch>
          </p:blipFill>
          <p:spPr>
            <a:xfrm>
              <a:off x="991818" y="2165665"/>
              <a:ext cx="919114" cy="1214304"/>
            </a:xfrm>
            <a:prstGeom prst="rect">
              <a:avLst/>
            </a:prstGeom>
          </p:spPr>
        </p:pic>
        <p:sp>
          <p:nvSpPr>
            <p:cNvPr id="8" name="TextBox 7">
              <a:extLst>
                <a:ext uri="{FF2B5EF4-FFF2-40B4-BE49-F238E27FC236}">
                  <a16:creationId xmlns:a16="http://schemas.microsoft.com/office/drawing/2014/main" id="{148B4DFC-92F4-9EDB-0DDE-2FEBCBCBA686}"/>
                </a:ext>
              </a:extLst>
            </p:cNvPr>
            <p:cNvSpPr txBox="1"/>
            <p:nvPr/>
          </p:nvSpPr>
          <p:spPr>
            <a:xfrm>
              <a:off x="651353" y="2264985"/>
              <a:ext cx="5692297" cy="1015663"/>
            </a:xfrm>
            <a:prstGeom prst="rect">
              <a:avLst/>
            </a:prstGeom>
            <a:noFill/>
          </p:spPr>
          <p:txBody>
            <a:bodyPr wrap="square" rtlCol="0">
              <a:spAutoFit/>
            </a:bodyPr>
            <a:lstStyle/>
            <a:p>
              <a:pPr algn="r"/>
              <a:r>
                <a:rPr lang="en-US" sz="2000" spc="-150" dirty="0">
                  <a:latin typeface="Hanken Grotesk SemiBold" pitchFamily="2" charset="0"/>
                </a:rPr>
                <a:t>PSG COLLEGE OF TECHNOLOGY</a:t>
              </a:r>
            </a:p>
            <a:p>
              <a:pPr algn="r"/>
              <a:r>
                <a:rPr lang="en-US" sz="2000" spc="-150" dirty="0">
                  <a:latin typeface="Hanken Grotesk SemiBold" pitchFamily="2" charset="0"/>
                </a:rPr>
                <a:t>BACHELOR OF ENGINEERING</a:t>
              </a:r>
            </a:p>
            <a:p>
              <a:pPr algn="r"/>
              <a:r>
                <a:rPr lang="en-US" sz="2000" spc="-150" dirty="0">
                  <a:latin typeface="Hanken Grotesk SemiBold" pitchFamily="2" charset="0"/>
                </a:rPr>
                <a:t>COMPUTER SCIENCE &amp; ENGINEERING</a:t>
              </a:r>
            </a:p>
          </p:txBody>
        </p:sp>
        <p:sp>
          <p:nvSpPr>
            <p:cNvPr id="10" name="TextBox 9">
              <a:extLst>
                <a:ext uri="{FF2B5EF4-FFF2-40B4-BE49-F238E27FC236}">
                  <a16:creationId xmlns:a16="http://schemas.microsoft.com/office/drawing/2014/main" id="{7B045E39-5183-15AF-3E3A-C39D7B82462E}"/>
                </a:ext>
              </a:extLst>
            </p:cNvPr>
            <p:cNvSpPr txBox="1"/>
            <p:nvPr/>
          </p:nvSpPr>
          <p:spPr>
            <a:xfrm>
              <a:off x="826718" y="3441257"/>
              <a:ext cx="5516932" cy="1107996"/>
            </a:xfrm>
            <a:prstGeom prst="rect">
              <a:avLst/>
            </a:prstGeom>
            <a:noFill/>
          </p:spPr>
          <p:txBody>
            <a:bodyPr wrap="square">
              <a:spAutoFit/>
            </a:bodyPr>
            <a:lstStyle/>
            <a:p>
              <a:pPr algn="r"/>
              <a:r>
                <a:rPr lang="en-US" sz="1100" spc="-150" dirty="0">
                  <a:latin typeface="Hanken Grotesk Medium" pitchFamily="2" charset="0"/>
                </a:rPr>
                <a:t>CHEMISTRY • APPLIED PHYSICS • DIGITAL ELECTRONICS • MICROPROCESSORS • CALCULUS • LINEAR ALGEBRA TRANSFORMS • DISCRETE MATH • PROBABILITY • C PROGRAMMING • PYTHON • OOP • DSA • ADVANCED DS  COMPUTER ARCHITECTURE • THEORY OF COMPUTATION • OPERATING SYSTEMS • DBMS • COMPUTER NETWORKS • WIRELESS NETWORKS • DISTRIBUTED SYSTEMS • CLOUD COMPUTING • OPEN SOURCE SYSTEMS </a:t>
              </a:r>
            </a:p>
            <a:p>
              <a:pPr algn="r"/>
              <a:r>
                <a:rPr lang="en-US" sz="1100" spc="-150" dirty="0">
                  <a:latin typeface="Hanken Grotesk Medium" pitchFamily="2" charset="0"/>
                </a:rPr>
                <a:t>SOFTWARE ENGINEERING • DESIGN THINKING • UI DESIGN • WEB TECHNOLOGY • ARTIFICIAL INTELLIGENCE</a:t>
              </a:r>
            </a:p>
            <a:p>
              <a:pPr algn="r"/>
              <a:r>
                <a:rPr lang="en-US" sz="1100" spc="-150" dirty="0">
                  <a:latin typeface="Hanken Grotesk Medium" pitchFamily="2" charset="0"/>
                </a:rPr>
                <a:t>MACHINE LEARNING • CRYPTOGRAPHY • BLOCKCHAIN</a:t>
              </a:r>
            </a:p>
          </p:txBody>
        </p:sp>
      </p:grpSp>
      <p:pic>
        <p:nvPicPr>
          <p:cNvPr id="1028" name="Picture 4" descr="Jobs at buildspace | Consider">
            <a:extLst>
              <a:ext uri="{FF2B5EF4-FFF2-40B4-BE49-F238E27FC236}">
                <a16:creationId xmlns:a16="http://schemas.microsoft.com/office/drawing/2014/main" id="{994E41DD-7F9C-7806-E78F-0EF60F690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750" y="3915289"/>
            <a:ext cx="3009900" cy="15240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7706A310-F0A9-D96D-64F5-776E43DDDC23}"/>
              </a:ext>
            </a:extLst>
          </p:cNvPr>
          <p:cNvSpPr txBox="1"/>
          <p:nvPr/>
        </p:nvSpPr>
        <p:spPr>
          <a:xfrm>
            <a:off x="991816" y="4120941"/>
            <a:ext cx="5692297" cy="400110"/>
          </a:xfrm>
          <a:prstGeom prst="rect">
            <a:avLst/>
          </a:prstGeom>
          <a:noFill/>
        </p:spPr>
        <p:txBody>
          <a:bodyPr wrap="square" rtlCol="0">
            <a:spAutoFit/>
          </a:bodyPr>
          <a:lstStyle/>
          <a:p>
            <a:r>
              <a:rPr lang="en-US" sz="2000" spc="-150" dirty="0">
                <a:latin typeface="Hanken Grotesk SemiBold" pitchFamily="2" charset="0"/>
              </a:rPr>
              <a:t>BUILDSPACE</a:t>
            </a:r>
          </a:p>
        </p:txBody>
      </p:sp>
      <p:sp>
        <p:nvSpPr>
          <p:cNvPr id="14" name="TextBox 13">
            <a:extLst>
              <a:ext uri="{FF2B5EF4-FFF2-40B4-BE49-F238E27FC236}">
                <a16:creationId xmlns:a16="http://schemas.microsoft.com/office/drawing/2014/main" id="{1686D09B-5693-75B5-95FB-F60C8BD4C601}"/>
              </a:ext>
            </a:extLst>
          </p:cNvPr>
          <p:cNvSpPr txBox="1"/>
          <p:nvPr/>
        </p:nvSpPr>
        <p:spPr>
          <a:xfrm>
            <a:off x="1165703" y="4503792"/>
            <a:ext cx="2168047" cy="400110"/>
          </a:xfrm>
          <a:prstGeom prst="rect">
            <a:avLst/>
          </a:prstGeom>
          <a:noFill/>
        </p:spPr>
        <p:txBody>
          <a:bodyPr wrap="square" rtlCol="0">
            <a:spAutoFit/>
          </a:bodyPr>
          <a:lstStyle/>
          <a:p>
            <a:r>
              <a:rPr lang="en-US" sz="2000" spc="-150" dirty="0">
                <a:latin typeface="Hanken Grotesk SemiBold" pitchFamily="2" charset="0"/>
              </a:rPr>
              <a:t>NOT A SCHOOL</a:t>
            </a:r>
          </a:p>
        </p:txBody>
      </p:sp>
      <p:sp>
        <p:nvSpPr>
          <p:cNvPr id="17" name="TextBox 16">
            <a:extLst>
              <a:ext uri="{FF2B5EF4-FFF2-40B4-BE49-F238E27FC236}">
                <a16:creationId xmlns:a16="http://schemas.microsoft.com/office/drawing/2014/main" id="{854E8875-92B1-ED40-3B12-199D8F4A4DA6}"/>
              </a:ext>
            </a:extLst>
          </p:cNvPr>
          <p:cNvSpPr txBox="1"/>
          <p:nvPr/>
        </p:nvSpPr>
        <p:spPr>
          <a:xfrm>
            <a:off x="991816" y="5017386"/>
            <a:ext cx="3679348" cy="400110"/>
          </a:xfrm>
          <a:prstGeom prst="rect">
            <a:avLst/>
          </a:prstGeom>
          <a:noFill/>
        </p:spPr>
        <p:txBody>
          <a:bodyPr wrap="square" rtlCol="0">
            <a:spAutoFit/>
          </a:bodyPr>
          <a:lstStyle/>
          <a:p>
            <a:r>
              <a:rPr lang="en-US" sz="2000" spc="-150" dirty="0">
                <a:latin typeface="Hanken Grotesk SemiBold" pitchFamily="2" charset="0"/>
              </a:rPr>
              <a:t>taught me entrepreneurship. </a:t>
            </a:r>
            <a:r>
              <a:rPr lang="en-US" sz="2000" spc="-150" dirty="0" err="1">
                <a:latin typeface="Hanken Grotesk SemiBold" pitchFamily="2" charset="0"/>
              </a:rPr>
              <a:t>iykyk</a:t>
            </a:r>
            <a:endParaRPr lang="en-US" sz="2000" spc="-150" dirty="0">
              <a:latin typeface="Hanken Grotesk SemiBold" pitchFamily="2" charset="0"/>
            </a:endParaRPr>
          </a:p>
        </p:txBody>
      </p:sp>
      <p:sp>
        <p:nvSpPr>
          <p:cNvPr id="21" name="TextBox 20">
            <a:extLst>
              <a:ext uri="{FF2B5EF4-FFF2-40B4-BE49-F238E27FC236}">
                <a16:creationId xmlns:a16="http://schemas.microsoft.com/office/drawing/2014/main" id="{5A7AD80B-12C4-33AF-139A-EEF6CA1C870A}"/>
              </a:ext>
            </a:extLst>
          </p:cNvPr>
          <p:cNvSpPr txBox="1"/>
          <p:nvPr/>
        </p:nvSpPr>
        <p:spPr>
          <a:xfrm>
            <a:off x="994512" y="5346688"/>
            <a:ext cx="3846884" cy="307777"/>
          </a:xfrm>
          <a:prstGeom prst="rect">
            <a:avLst/>
          </a:prstGeom>
          <a:noFill/>
        </p:spPr>
        <p:txBody>
          <a:bodyPr wrap="square">
            <a:spAutoFit/>
          </a:bodyPr>
          <a:lstStyle/>
          <a:p>
            <a:r>
              <a:rPr lang="en-US" sz="1400" spc="-150" dirty="0">
                <a:latin typeface="Hanken Grotesk Medium" pitchFamily="2" charset="0"/>
                <a:hlinkClick r:id="rId4">
                  <a:extLst>
                    <a:ext uri="{A12FA001-AC4F-418D-AE19-62706E023703}">
                      <ahyp:hlinkClr xmlns:ahyp="http://schemas.microsoft.com/office/drawing/2018/hyperlinkcolor" val="tx"/>
                    </a:ext>
                  </a:extLst>
                </a:hlinkClick>
              </a:rPr>
              <a:t>https://x.com/_buildspace/status/1820332208831254892</a:t>
            </a:r>
            <a:endParaRPr lang="en-US" sz="1400" spc="-150" dirty="0">
              <a:latin typeface="Hanken Grotesk Medium" pitchFamily="2" charset="0"/>
            </a:endParaRPr>
          </a:p>
        </p:txBody>
      </p:sp>
      <p:sp>
        <p:nvSpPr>
          <p:cNvPr id="22" name="TextBox 21">
            <a:extLst>
              <a:ext uri="{FF2B5EF4-FFF2-40B4-BE49-F238E27FC236}">
                <a16:creationId xmlns:a16="http://schemas.microsoft.com/office/drawing/2014/main" id="{4CC05CE2-28CE-979F-30F1-4F1C213C7B2B}"/>
              </a:ext>
            </a:extLst>
          </p:cNvPr>
          <p:cNvSpPr txBox="1"/>
          <p:nvPr/>
        </p:nvSpPr>
        <p:spPr>
          <a:xfrm>
            <a:off x="991816" y="4503792"/>
            <a:ext cx="2168047" cy="523220"/>
          </a:xfrm>
          <a:prstGeom prst="rect">
            <a:avLst/>
          </a:prstGeom>
          <a:noFill/>
        </p:spPr>
        <p:txBody>
          <a:bodyPr wrap="square" rtlCol="0">
            <a:spAutoFit/>
          </a:bodyPr>
          <a:lstStyle/>
          <a:p>
            <a:r>
              <a:rPr lang="en-US" sz="2800" spc="-150" dirty="0">
                <a:latin typeface="Hanken Grotesk SemiBold" pitchFamily="2" charset="0"/>
              </a:rPr>
              <a:t>*</a:t>
            </a:r>
          </a:p>
        </p:txBody>
      </p:sp>
      <p:pic>
        <p:nvPicPr>
          <p:cNvPr id="23" name="Picture 22">
            <a:extLst>
              <a:ext uri="{FF2B5EF4-FFF2-40B4-BE49-F238E27FC236}">
                <a16:creationId xmlns:a16="http://schemas.microsoft.com/office/drawing/2014/main" id="{6BBD9E47-47FE-0791-0F51-B4AA86B50696}"/>
              </a:ext>
            </a:extLst>
          </p:cNvPr>
          <p:cNvPicPr>
            <a:picLocks noChangeAspect="1"/>
          </p:cNvPicPr>
          <p:nvPr/>
        </p:nvPicPr>
        <p:blipFill>
          <a:blip r:embed="rId5"/>
          <a:stretch>
            <a:fillRect/>
          </a:stretch>
        </p:blipFill>
        <p:spPr>
          <a:xfrm>
            <a:off x="826718" y="2387806"/>
            <a:ext cx="1717398" cy="584989"/>
          </a:xfrm>
          <a:prstGeom prst="rect">
            <a:avLst/>
          </a:prstGeom>
        </p:spPr>
      </p:pic>
      <p:sp>
        <p:nvSpPr>
          <p:cNvPr id="24" name="TextBox 23">
            <a:extLst>
              <a:ext uri="{FF2B5EF4-FFF2-40B4-BE49-F238E27FC236}">
                <a16:creationId xmlns:a16="http://schemas.microsoft.com/office/drawing/2014/main" id="{39915E62-1B17-C882-0F94-0ADFD1464044}"/>
              </a:ext>
            </a:extLst>
          </p:cNvPr>
          <p:cNvSpPr txBox="1"/>
          <p:nvPr/>
        </p:nvSpPr>
        <p:spPr>
          <a:xfrm>
            <a:off x="2063907" y="2153486"/>
            <a:ext cx="4444841" cy="1323439"/>
          </a:xfrm>
          <a:prstGeom prst="rect">
            <a:avLst/>
          </a:prstGeom>
          <a:noFill/>
        </p:spPr>
        <p:txBody>
          <a:bodyPr wrap="square" rtlCol="0">
            <a:spAutoFit/>
          </a:bodyPr>
          <a:lstStyle/>
          <a:p>
            <a:pPr algn="r"/>
            <a:r>
              <a:rPr lang="en-US" sz="2000" spc="-150" dirty="0">
                <a:latin typeface="Hanken Grotesk SemiBold" pitchFamily="2" charset="0"/>
              </a:rPr>
              <a:t>NEW YORK UNIVERSITY,</a:t>
            </a:r>
          </a:p>
          <a:p>
            <a:pPr algn="r"/>
            <a:r>
              <a:rPr lang="en-US" sz="2000" spc="-150" dirty="0">
                <a:latin typeface="Hanken Grotesk SemiBold" pitchFamily="2" charset="0"/>
              </a:rPr>
              <a:t>TANDON SCHOOL OF ENGINEERING</a:t>
            </a:r>
          </a:p>
          <a:p>
            <a:pPr algn="r"/>
            <a:r>
              <a:rPr lang="en-US" sz="2000" spc="-150" dirty="0">
                <a:latin typeface="Hanken Grotesk SemiBold" pitchFamily="2" charset="0"/>
              </a:rPr>
              <a:t>MASTER OF SCIENCE</a:t>
            </a:r>
          </a:p>
          <a:p>
            <a:pPr algn="r"/>
            <a:r>
              <a:rPr lang="en-US" sz="2000" spc="-150" dirty="0">
                <a:latin typeface="Hanken Grotesk SemiBold" pitchFamily="2" charset="0"/>
              </a:rPr>
              <a:t>CYBERSECURITY</a:t>
            </a:r>
          </a:p>
        </p:txBody>
      </p:sp>
      <p:sp>
        <p:nvSpPr>
          <p:cNvPr id="25" name="TextBox 24">
            <a:extLst>
              <a:ext uri="{FF2B5EF4-FFF2-40B4-BE49-F238E27FC236}">
                <a16:creationId xmlns:a16="http://schemas.microsoft.com/office/drawing/2014/main" id="{3FE3A380-3466-699D-1DCD-3BFD3C989227}"/>
              </a:ext>
            </a:extLst>
          </p:cNvPr>
          <p:cNvSpPr txBox="1"/>
          <p:nvPr/>
        </p:nvSpPr>
        <p:spPr>
          <a:xfrm>
            <a:off x="991816" y="3404459"/>
            <a:ext cx="5516932" cy="738664"/>
          </a:xfrm>
          <a:prstGeom prst="rect">
            <a:avLst/>
          </a:prstGeom>
          <a:noFill/>
        </p:spPr>
        <p:txBody>
          <a:bodyPr wrap="square">
            <a:spAutoFit/>
          </a:bodyPr>
          <a:lstStyle/>
          <a:p>
            <a:pPr algn="r"/>
            <a:r>
              <a:rPr lang="en-US" sz="1100" spc="-150" dirty="0">
                <a:latin typeface="Hanken Grotesk Medium" pitchFamily="2" charset="0"/>
              </a:rPr>
              <a:t>APPLICATION SECURITY • SOFTWARE SUPPLY CHAIN SECURITY • POST QUANTUM CRYPTOGRAPHY • NETWORK SECURITY • INFORMATION SYSTEMS SECURITY ENGINEERING &amp; MANAGEMENT • PRIVACY IN THE ELECTRONICS SOCIETY • PENETRATION TESTING &amp; VULNERABILITY ANALYSIS    </a:t>
            </a:r>
            <a:r>
              <a:rPr lang="en-US" sz="1100" spc="-150" dirty="0">
                <a:solidFill>
                  <a:srgbClr val="D9D9D9"/>
                </a:solidFill>
                <a:latin typeface="Hanken Grotesk Medium" pitchFamily="2" charset="0"/>
              </a:rPr>
              <a:t>…</a:t>
            </a:r>
          </a:p>
          <a:p>
            <a:pPr algn="r"/>
            <a:r>
              <a:rPr lang="en-US" sz="800" dirty="0">
                <a:latin typeface="Hanken Grotesk Medium" pitchFamily="2" charset="0"/>
              </a:rPr>
              <a:t>4.0/4.0 GPA  (*^ ‿ *)</a:t>
            </a:r>
          </a:p>
        </p:txBody>
      </p:sp>
      <p:sp>
        <p:nvSpPr>
          <p:cNvPr id="27" name="TextBox 26">
            <a:extLst>
              <a:ext uri="{FF2B5EF4-FFF2-40B4-BE49-F238E27FC236}">
                <a16:creationId xmlns:a16="http://schemas.microsoft.com/office/drawing/2014/main" id="{BCC1F089-7183-AB3E-BC10-3F7E13BB516D}"/>
              </a:ext>
            </a:extLst>
          </p:cNvPr>
          <p:cNvSpPr txBox="1"/>
          <p:nvPr/>
        </p:nvSpPr>
        <p:spPr>
          <a:xfrm>
            <a:off x="6225896" y="3693186"/>
            <a:ext cx="375285" cy="276999"/>
          </a:xfrm>
          <a:prstGeom prst="rect">
            <a:avLst/>
          </a:prstGeom>
          <a:noFill/>
        </p:spPr>
        <p:txBody>
          <a:bodyPr wrap="square">
            <a:spAutoFit/>
          </a:bodyPr>
          <a:lstStyle/>
          <a:p>
            <a:r>
              <a:rPr lang="en-US" sz="1200" spc="-150" dirty="0">
                <a:latin typeface="Hanken Grotesk SemiBold" pitchFamily="2" charset="0"/>
              </a:rPr>
              <a:t>…</a:t>
            </a:r>
          </a:p>
        </p:txBody>
      </p:sp>
    </p:spTree>
    <p:extLst>
      <p:ext uri="{BB962C8B-B14F-4D97-AF65-F5344CB8AC3E}">
        <p14:creationId xmlns:p14="http://schemas.microsoft.com/office/powerpoint/2010/main" val="2536493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1FF71-C06B-3676-C075-55C7497C53C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7ADC165-BD58-C14A-8AC8-A26876361AD6}"/>
              </a:ext>
            </a:extLst>
          </p:cNvPr>
          <p:cNvSpPr txBox="1"/>
          <p:nvPr/>
        </p:nvSpPr>
        <p:spPr>
          <a:xfrm>
            <a:off x="323711" y="472711"/>
            <a:ext cx="3609462" cy="769441"/>
          </a:xfrm>
          <a:prstGeom prst="rect">
            <a:avLst/>
          </a:prstGeom>
          <a:noFill/>
        </p:spPr>
        <p:txBody>
          <a:bodyPr wrap="square" rtlCol="0">
            <a:spAutoFit/>
          </a:bodyPr>
          <a:lstStyle/>
          <a:p>
            <a:r>
              <a:rPr lang="en-US" sz="4400" b="1" spc="-300" dirty="0">
                <a:solidFill>
                  <a:srgbClr val="AA3A1C"/>
                </a:solidFill>
                <a:latin typeface="Hanken Grotesk SemiBold" pitchFamily="2" charset="0"/>
              </a:rPr>
              <a:t>DELIVERABLES</a:t>
            </a:r>
          </a:p>
        </p:txBody>
      </p:sp>
      <p:sp>
        <p:nvSpPr>
          <p:cNvPr id="2" name="TextBox 1">
            <a:extLst>
              <a:ext uri="{FF2B5EF4-FFF2-40B4-BE49-F238E27FC236}">
                <a16:creationId xmlns:a16="http://schemas.microsoft.com/office/drawing/2014/main" id="{0A1EBB2B-4B14-E79D-0013-862D6B2924E1}"/>
              </a:ext>
            </a:extLst>
          </p:cNvPr>
          <p:cNvSpPr txBox="1"/>
          <p:nvPr/>
        </p:nvSpPr>
        <p:spPr>
          <a:xfrm>
            <a:off x="5741468" y="405065"/>
            <a:ext cx="484428" cy="1107996"/>
          </a:xfrm>
          <a:prstGeom prst="rect">
            <a:avLst/>
          </a:prstGeom>
          <a:noFill/>
        </p:spPr>
        <p:txBody>
          <a:bodyPr wrap="none" rtlCol="0">
            <a:spAutoFit/>
          </a:bodyPr>
          <a:lstStyle/>
          <a:p>
            <a:r>
              <a:rPr lang="en-US" sz="6600" b="1" spc="-300" dirty="0">
                <a:solidFill>
                  <a:srgbClr val="AA3A1C"/>
                </a:solidFill>
                <a:latin typeface="Hanken Grotesk SemiBold" pitchFamily="2" charset="0"/>
              </a:rPr>
              <a:t>*</a:t>
            </a:r>
          </a:p>
        </p:txBody>
      </p:sp>
      <p:sp>
        <p:nvSpPr>
          <p:cNvPr id="3" name="TextBox 2">
            <a:extLst>
              <a:ext uri="{FF2B5EF4-FFF2-40B4-BE49-F238E27FC236}">
                <a16:creationId xmlns:a16="http://schemas.microsoft.com/office/drawing/2014/main" id="{E8E333E1-CF9D-DFCA-B522-DEB14C0A9857}"/>
              </a:ext>
            </a:extLst>
          </p:cNvPr>
          <p:cNvSpPr txBox="1"/>
          <p:nvPr/>
        </p:nvSpPr>
        <p:spPr>
          <a:xfrm>
            <a:off x="404157" y="8109850"/>
            <a:ext cx="1175322"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(3)</a:t>
            </a:r>
          </a:p>
        </p:txBody>
      </p:sp>
      <p:grpSp>
        <p:nvGrpSpPr>
          <p:cNvPr id="58" name="Group 57">
            <a:extLst>
              <a:ext uri="{FF2B5EF4-FFF2-40B4-BE49-F238E27FC236}">
                <a16:creationId xmlns:a16="http://schemas.microsoft.com/office/drawing/2014/main" id="{F6E98D20-1B42-F317-169C-1B2C8B35201D}"/>
              </a:ext>
            </a:extLst>
          </p:cNvPr>
          <p:cNvGrpSpPr/>
          <p:nvPr/>
        </p:nvGrpSpPr>
        <p:grpSpPr>
          <a:xfrm>
            <a:off x="404157" y="1562436"/>
            <a:ext cx="6197025" cy="6447206"/>
            <a:chOff x="404157" y="1549910"/>
            <a:chExt cx="6197025" cy="6447206"/>
          </a:xfrm>
        </p:grpSpPr>
        <p:sp>
          <p:nvSpPr>
            <p:cNvPr id="24" name="TextBox 23">
              <a:extLst>
                <a:ext uri="{FF2B5EF4-FFF2-40B4-BE49-F238E27FC236}">
                  <a16:creationId xmlns:a16="http://schemas.microsoft.com/office/drawing/2014/main" id="{7CC3C140-63BD-9FAA-93C1-AF3BFDCAC290}"/>
                </a:ext>
              </a:extLst>
            </p:cNvPr>
            <p:cNvSpPr txBox="1"/>
            <p:nvPr/>
          </p:nvSpPr>
          <p:spPr>
            <a:xfrm>
              <a:off x="404157" y="2011575"/>
              <a:ext cx="4444841" cy="461665"/>
            </a:xfrm>
            <a:prstGeom prst="rect">
              <a:avLst/>
            </a:prstGeom>
            <a:noFill/>
          </p:spPr>
          <p:txBody>
            <a:bodyPr wrap="square" rtlCol="0">
              <a:spAutoFit/>
            </a:bodyPr>
            <a:lstStyle/>
            <a:p>
              <a:r>
                <a:rPr lang="en-US" sz="2400" spc="-150" dirty="0">
                  <a:latin typeface="Hanken Grotesk SemiBold" pitchFamily="2" charset="0"/>
                </a:rPr>
                <a:t>CYBERSECURITY:</a:t>
              </a:r>
            </a:p>
          </p:txBody>
        </p:sp>
        <p:sp>
          <p:nvSpPr>
            <p:cNvPr id="25" name="TextBox 24">
              <a:extLst>
                <a:ext uri="{FF2B5EF4-FFF2-40B4-BE49-F238E27FC236}">
                  <a16:creationId xmlns:a16="http://schemas.microsoft.com/office/drawing/2014/main" id="{B0378A28-9B75-48B7-DD7E-5ADF36C3487D}"/>
                </a:ext>
              </a:extLst>
            </p:cNvPr>
            <p:cNvSpPr txBox="1"/>
            <p:nvPr/>
          </p:nvSpPr>
          <p:spPr>
            <a:xfrm>
              <a:off x="1084249" y="1549910"/>
              <a:ext cx="5516932" cy="923330"/>
            </a:xfrm>
            <a:prstGeom prst="rect">
              <a:avLst/>
            </a:prstGeom>
            <a:noFill/>
          </p:spPr>
          <p:txBody>
            <a:bodyPr wrap="square">
              <a:spAutoFit/>
            </a:bodyPr>
            <a:lstStyle/>
            <a:p>
              <a:pPr algn="r"/>
              <a:r>
                <a:rPr lang="en-US" spc="-150" dirty="0">
                  <a:latin typeface="Hanken Grotesk SemiBold" pitchFamily="2" charset="0"/>
                </a:rPr>
                <a:t>THREAT DETECTION SYSTEMS</a:t>
              </a:r>
            </a:p>
            <a:p>
              <a:pPr algn="r"/>
              <a:r>
                <a:rPr lang="en-US" spc="-150" dirty="0">
                  <a:latin typeface="Hanken Grotesk SemiBold" pitchFamily="2" charset="0"/>
                </a:rPr>
                <a:t>INSIDER THREAT ANALYSIS</a:t>
              </a:r>
            </a:p>
            <a:p>
              <a:pPr algn="r"/>
              <a:r>
                <a:rPr lang="en-US" spc="-150" dirty="0">
                  <a:latin typeface="Hanken Grotesk SemiBold" pitchFamily="2" charset="0"/>
                </a:rPr>
                <a:t>SECURITY AUTOMATION PIPELINES</a:t>
              </a:r>
              <a:endParaRPr lang="en-US" sz="1100" dirty="0">
                <a:latin typeface="Hanken Grotesk SemiBold" pitchFamily="2" charset="0"/>
              </a:endParaRPr>
            </a:p>
          </p:txBody>
        </p:sp>
        <p:sp>
          <p:nvSpPr>
            <p:cNvPr id="30" name="Rectangle 29">
              <a:extLst>
                <a:ext uri="{FF2B5EF4-FFF2-40B4-BE49-F238E27FC236}">
                  <a16:creationId xmlns:a16="http://schemas.microsoft.com/office/drawing/2014/main" id="{CB041B66-7DA0-C695-97E5-8708F0B20CD6}"/>
                </a:ext>
              </a:extLst>
            </p:cNvPr>
            <p:cNvSpPr/>
            <p:nvPr/>
          </p:nvSpPr>
          <p:spPr>
            <a:xfrm>
              <a:off x="404157" y="2450380"/>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a:extLst>
                <a:ext uri="{FF2B5EF4-FFF2-40B4-BE49-F238E27FC236}">
                  <a16:creationId xmlns:a16="http://schemas.microsoft.com/office/drawing/2014/main" id="{AA6C5E1F-719A-4B1A-5C1E-90B95F5E6D1C}"/>
                </a:ext>
              </a:extLst>
            </p:cNvPr>
            <p:cNvSpPr txBox="1"/>
            <p:nvPr/>
          </p:nvSpPr>
          <p:spPr>
            <a:xfrm>
              <a:off x="404157" y="2927441"/>
              <a:ext cx="4444841" cy="461665"/>
            </a:xfrm>
            <a:prstGeom prst="rect">
              <a:avLst/>
            </a:prstGeom>
            <a:noFill/>
          </p:spPr>
          <p:txBody>
            <a:bodyPr wrap="square" rtlCol="0">
              <a:spAutoFit/>
            </a:bodyPr>
            <a:lstStyle/>
            <a:p>
              <a:r>
                <a:rPr lang="en-US" sz="2400" spc="-150" dirty="0">
                  <a:latin typeface="Hanken Grotesk SemiBold" pitchFamily="2" charset="0"/>
                </a:rPr>
                <a:t>AI/ML:</a:t>
              </a:r>
            </a:p>
          </p:txBody>
        </p:sp>
        <p:sp>
          <p:nvSpPr>
            <p:cNvPr id="36" name="TextBox 35">
              <a:extLst>
                <a:ext uri="{FF2B5EF4-FFF2-40B4-BE49-F238E27FC236}">
                  <a16:creationId xmlns:a16="http://schemas.microsoft.com/office/drawing/2014/main" id="{451B1C49-0CE3-625E-4A79-2BD55841BDB7}"/>
                </a:ext>
              </a:extLst>
            </p:cNvPr>
            <p:cNvSpPr txBox="1"/>
            <p:nvPr/>
          </p:nvSpPr>
          <p:spPr>
            <a:xfrm>
              <a:off x="1084249" y="2465776"/>
              <a:ext cx="5516932" cy="923330"/>
            </a:xfrm>
            <a:prstGeom prst="rect">
              <a:avLst/>
            </a:prstGeom>
            <a:noFill/>
          </p:spPr>
          <p:txBody>
            <a:bodyPr wrap="square">
              <a:spAutoFit/>
            </a:bodyPr>
            <a:lstStyle/>
            <a:p>
              <a:pPr algn="r"/>
              <a:r>
                <a:rPr lang="en-US" spc="-150" dirty="0">
                  <a:latin typeface="Hanken Grotesk SemiBold" pitchFamily="2" charset="0"/>
                </a:rPr>
                <a:t>LLM BASED ASSISTANTS</a:t>
              </a:r>
            </a:p>
            <a:p>
              <a:pPr algn="r"/>
              <a:r>
                <a:rPr lang="en-US" spc="-150" dirty="0">
                  <a:latin typeface="Hanken Grotesk SemiBold" pitchFamily="2" charset="0"/>
                </a:rPr>
                <a:t>AGENTIC AI</a:t>
              </a:r>
            </a:p>
            <a:p>
              <a:pPr algn="r"/>
              <a:r>
                <a:rPr lang="en-US" spc="-150" dirty="0">
                  <a:latin typeface="Hanken Grotesk SemiBold" pitchFamily="2" charset="0"/>
                </a:rPr>
                <a:t>PRIVACY-PRESERVING MACHINE LEARNING</a:t>
              </a:r>
            </a:p>
          </p:txBody>
        </p:sp>
        <p:sp>
          <p:nvSpPr>
            <p:cNvPr id="37" name="Rectangle 36">
              <a:extLst>
                <a:ext uri="{FF2B5EF4-FFF2-40B4-BE49-F238E27FC236}">
                  <a16:creationId xmlns:a16="http://schemas.microsoft.com/office/drawing/2014/main" id="{4E5CFFB6-376A-1DBA-7A47-D86863E97945}"/>
                </a:ext>
              </a:extLst>
            </p:cNvPr>
            <p:cNvSpPr/>
            <p:nvPr/>
          </p:nvSpPr>
          <p:spPr>
            <a:xfrm>
              <a:off x="404157" y="3366246"/>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Box 38">
              <a:extLst>
                <a:ext uri="{FF2B5EF4-FFF2-40B4-BE49-F238E27FC236}">
                  <a16:creationId xmlns:a16="http://schemas.microsoft.com/office/drawing/2014/main" id="{86EC3D56-46E9-58ED-1EA6-77444256EB36}"/>
                </a:ext>
              </a:extLst>
            </p:cNvPr>
            <p:cNvSpPr txBox="1"/>
            <p:nvPr/>
          </p:nvSpPr>
          <p:spPr>
            <a:xfrm>
              <a:off x="404157" y="3535070"/>
              <a:ext cx="2234267" cy="830997"/>
            </a:xfrm>
            <a:prstGeom prst="rect">
              <a:avLst/>
            </a:prstGeom>
            <a:noFill/>
          </p:spPr>
          <p:txBody>
            <a:bodyPr wrap="square" rtlCol="0">
              <a:spAutoFit/>
            </a:bodyPr>
            <a:lstStyle/>
            <a:p>
              <a:r>
                <a:rPr lang="en-US" sz="2400" spc="-150" dirty="0">
                  <a:latin typeface="Hanken Grotesk SemiBold" pitchFamily="2" charset="0"/>
                </a:rPr>
                <a:t>WEB DEVELOPMENT:</a:t>
              </a:r>
            </a:p>
          </p:txBody>
        </p:sp>
        <p:sp>
          <p:nvSpPr>
            <p:cNvPr id="40" name="TextBox 39">
              <a:extLst>
                <a:ext uri="{FF2B5EF4-FFF2-40B4-BE49-F238E27FC236}">
                  <a16:creationId xmlns:a16="http://schemas.microsoft.com/office/drawing/2014/main" id="{4D9C80F4-5FC9-D4D1-98F7-C9AC98906700}"/>
                </a:ext>
              </a:extLst>
            </p:cNvPr>
            <p:cNvSpPr txBox="1"/>
            <p:nvPr/>
          </p:nvSpPr>
          <p:spPr>
            <a:xfrm>
              <a:off x="1084249" y="3393036"/>
              <a:ext cx="5516932" cy="923330"/>
            </a:xfrm>
            <a:prstGeom prst="rect">
              <a:avLst/>
            </a:prstGeom>
            <a:noFill/>
          </p:spPr>
          <p:txBody>
            <a:bodyPr wrap="square">
              <a:spAutoFit/>
            </a:bodyPr>
            <a:lstStyle/>
            <a:p>
              <a:pPr algn="r"/>
              <a:r>
                <a:rPr lang="en-US" spc="-150" dirty="0">
                  <a:latin typeface="Hanken Grotesk SemiBold" pitchFamily="2" charset="0"/>
                </a:rPr>
                <a:t>FULL STACK WEB APPLICATIONS</a:t>
              </a:r>
            </a:p>
            <a:p>
              <a:pPr algn="r"/>
              <a:r>
                <a:rPr lang="en-US" spc="-150" dirty="0">
                  <a:latin typeface="Hanken Grotesk SemiBold" pitchFamily="2" charset="0"/>
                </a:rPr>
                <a:t>API DEVELOPMENT, BACKENDS &amp; SYSTEM DESIGN</a:t>
              </a:r>
            </a:p>
            <a:p>
              <a:pPr algn="r"/>
              <a:r>
                <a:rPr lang="en-US" spc="-150" dirty="0">
                  <a:latin typeface="Hanken Grotesk SemiBold" pitchFamily="2" charset="0"/>
                </a:rPr>
                <a:t>CUSTOM CMS &amp; PORTALS</a:t>
              </a:r>
            </a:p>
          </p:txBody>
        </p:sp>
        <p:sp>
          <p:nvSpPr>
            <p:cNvPr id="41" name="Rectangle 40">
              <a:extLst>
                <a:ext uri="{FF2B5EF4-FFF2-40B4-BE49-F238E27FC236}">
                  <a16:creationId xmlns:a16="http://schemas.microsoft.com/office/drawing/2014/main" id="{63A03A0A-2BB2-F9FC-6F0C-1E5D9C80D990}"/>
                </a:ext>
              </a:extLst>
            </p:cNvPr>
            <p:cNvSpPr/>
            <p:nvPr/>
          </p:nvSpPr>
          <p:spPr>
            <a:xfrm>
              <a:off x="404157" y="4293506"/>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38ABCA8A-FE73-EA0C-2E61-DE6334A53322}"/>
                </a:ext>
              </a:extLst>
            </p:cNvPr>
            <p:cNvSpPr txBox="1"/>
            <p:nvPr/>
          </p:nvSpPr>
          <p:spPr>
            <a:xfrm>
              <a:off x="404157" y="4481259"/>
              <a:ext cx="2329518" cy="830997"/>
            </a:xfrm>
            <a:prstGeom prst="rect">
              <a:avLst/>
            </a:prstGeom>
            <a:noFill/>
          </p:spPr>
          <p:txBody>
            <a:bodyPr wrap="square" rtlCol="0">
              <a:spAutoFit/>
            </a:bodyPr>
            <a:lstStyle/>
            <a:p>
              <a:r>
                <a:rPr lang="en-US" sz="2400" spc="-150" dirty="0">
                  <a:latin typeface="Hanken Grotesk SemiBold" pitchFamily="2" charset="0"/>
                </a:rPr>
                <a:t>CYBERSECURITY</a:t>
              </a:r>
            </a:p>
            <a:p>
              <a:r>
                <a:rPr lang="en-US" sz="2400" spc="-150" dirty="0">
                  <a:latin typeface="Hanken Grotesk SemiBold" pitchFamily="2" charset="0"/>
                </a:rPr>
                <a:t>TRAINING:</a:t>
              </a:r>
            </a:p>
          </p:txBody>
        </p:sp>
        <p:sp>
          <p:nvSpPr>
            <p:cNvPr id="47" name="TextBox 46">
              <a:extLst>
                <a:ext uri="{FF2B5EF4-FFF2-40B4-BE49-F238E27FC236}">
                  <a16:creationId xmlns:a16="http://schemas.microsoft.com/office/drawing/2014/main" id="{B677045E-5FA0-8EEE-F1F4-B9F937758B7E}"/>
                </a:ext>
              </a:extLst>
            </p:cNvPr>
            <p:cNvSpPr txBox="1"/>
            <p:nvPr/>
          </p:nvSpPr>
          <p:spPr>
            <a:xfrm>
              <a:off x="1084249" y="4339225"/>
              <a:ext cx="5516932" cy="923330"/>
            </a:xfrm>
            <a:prstGeom prst="rect">
              <a:avLst/>
            </a:prstGeom>
            <a:noFill/>
          </p:spPr>
          <p:txBody>
            <a:bodyPr wrap="square">
              <a:spAutoFit/>
            </a:bodyPr>
            <a:lstStyle/>
            <a:p>
              <a:pPr algn="r"/>
              <a:r>
                <a:rPr lang="en-US" spc="-150" dirty="0">
                  <a:latin typeface="Hanken Grotesk SemiBold" pitchFamily="2" charset="0"/>
                </a:rPr>
                <a:t>OFFENSIVE SECURITY BOOTCAMPS</a:t>
              </a:r>
            </a:p>
            <a:p>
              <a:pPr algn="r"/>
              <a:r>
                <a:rPr lang="en-US" spc="-150" dirty="0">
                  <a:latin typeface="Hanken Grotesk SemiBold" pitchFamily="2" charset="0"/>
                </a:rPr>
                <a:t>SECURE CODING WORKSHOPS</a:t>
              </a:r>
            </a:p>
            <a:p>
              <a:pPr algn="r"/>
              <a:r>
                <a:rPr lang="en-US" spc="-150" dirty="0">
                  <a:latin typeface="Hanken Grotesk SemiBold" pitchFamily="2" charset="0"/>
                </a:rPr>
                <a:t>GUEST LECTURES</a:t>
              </a:r>
            </a:p>
          </p:txBody>
        </p:sp>
        <p:sp>
          <p:nvSpPr>
            <p:cNvPr id="48" name="Rectangle 47">
              <a:extLst>
                <a:ext uri="{FF2B5EF4-FFF2-40B4-BE49-F238E27FC236}">
                  <a16:creationId xmlns:a16="http://schemas.microsoft.com/office/drawing/2014/main" id="{139038A7-9011-E431-91E8-EF736929D2B6}"/>
                </a:ext>
              </a:extLst>
            </p:cNvPr>
            <p:cNvSpPr/>
            <p:nvPr/>
          </p:nvSpPr>
          <p:spPr>
            <a:xfrm>
              <a:off x="404157" y="5239695"/>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Box 48">
              <a:extLst>
                <a:ext uri="{FF2B5EF4-FFF2-40B4-BE49-F238E27FC236}">
                  <a16:creationId xmlns:a16="http://schemas.microsoft.com/office/drawing/2014/main" id="{54A2E418-42DC-3687-BC6B-69EDE4586764}"/>
                </a:ext>
              </a:extLst>
            </p:cNvPr>
            <p:cNvSpPr txBox="1"/>
            <p:nvPr/>
          </p:nvSpPr>
          <p:spPr>
            <a:xfrm>
              <a:off x="404157" y="6603600"/>
              <a:ext cx="3596343" cy="461665"/>
            </a:xfrm>
            <a:prstGeom prst="rect">
              <a:avLst/>
            </a:prstGeom>
            <a:noFill/>
          </p:spPr>
          <p:txBody>
            <a:bodyPr wrap="square" rtlCol="0">
              <a:spAutoFit/>
            </a:bodyPr>
            <a:lstStyle/>
            <a:p>
              <a:r>
                <a:rPr lang="en-US" sz="2400" spc="-150" dirty="0">
                  <a:latin typeface="Hanken Grotesk SemiBold" pitchFamily="2" charset="0"/>
                </a:rPr>
                <a:t>RESEARCH &amp; INNOVATION:</a:t>
              </a:r>
            </a:p>
          </p:txBody>
        </p:sp>
        <p:sp>
          <p:nvSpPr>
            <p:cNvPr id="50" name="TextBox 49">
              <a:extLst>
                <a:ext uri="{FF2B5EF4-FFF2-40B4-BE49-F238E27FC236}">
                  <a16:creationId xmlns:a16="http://schemas.microsoft.com/office/drawing/2014/main" id="{8A191759-B06A-9D15-70D4-9D240C513138}"/>
                </a:ext>
              </a:extLst>
            </p:cNvPr>
            <p:cNvSpPr txBox="1"/>
            <p:nvPr/>
          </p:nvSpPr>
          <p:spPr>
            <a:xfrm>
              <a:off x="1084249" y="5285414"/>
              <a:ext cx="5516932" cy="1754326"/>
            </a:xfrm>
            <a:prstGeom prst="rect">
              <a:avLst/>
            </a:prstGeom>
            <a:noFill/>
          </p:spPr>
          <p:txBody>
            <a:bodyPr wrap="square">
              <a:spAutoFit/>
            </a:bodyPr>
            <a:lstStyle/>
            <a:p>
              <a:pPr algn="r"/>
              <a:r>
                <a:rPr lang="en-US" spc="-150" dirty="0">
                  <a:latin typeface="Hanken Grotesk SemiBold" pitchFamily="2" charset="0"/>
                </a:rPr>
                <a:t>PRIVACY PRESERVING AI</a:t>
              </a:r>
            </a:p>
            <a:p>
              <a:pPr algn="r"/>
              <a:r>
                <a:rPr lang="en-US" spc="-150" dirty="0">
                  <a:latin typeface="Hanken Grotesk SemiBold" pitchFamily="2" charset="0"/>
                </a:rPr>
                <a:t>MITRE ATT&amp;CK AND ATLAS</a:t>
              </a:r>
            </a:p>
            <a:p>
              <a:pPr algn="r"/>
              <a:r>
                <a:rPr lang="en-US" spc="-150" dirty="0">
                  <a:latin typeface="Hanken Grotesk SemiBold" pitchFamily="2" charset="0"/>
                </a:rPr>
                <a:t>INTEGRATIONS</a:t>
              </a:r>
            </a:p>
            <a:p>
              <a:pPr algn="r"/>
              <a:r>
                <a:rPr lang="en-US" spc="-150" dirty="0">
                  <a:latin typeface="Hanken Grotesk SemiBold" pitchFamily="2" charset="0"/>
                </a:rPr>
                <a:t>SECURITY USE CASE DESIGNING</a:t>
              </a:r>
            </a:p>
            <a:p>
              <a:pPr algn="r"/>
              <a:r>
                <a:rPr lang="en-US" spc="-150" dirty="0">
                  <a:latin typeface="Hanken Grotesk SemiBold" pitchFamily="2" charset="0"/>
                </a:rPr>
                <a:t>CONSTRAINT VIOLATION-</a:t>
              </a:r>
            </a:p>
            <a:p>
              <a:pPr algn="r"/>
              <a:r>
                <a:rPr lang="en-US" spc="-150" dirty="0">
                  <a:latin typeface="Hanken Grotesk SemiBold" pitchFamily="2" charset="0"/>
                </a:rPr>
                <a:t>-DETECTION SYSTEMS</a:t>
              </a:r>
            </a:p>
          </p:txBody>
        </p:sp>
        <p:sp>
          <p:nvSpPr>
            <p:cNvPr id="51" name="Rectangle 50">
              <a:extLst>
                <a:ext uri="{FF2B5EF4-FFF2-40B4-BE49-F238E27FC236}">
                  <a16:creationId xmlns:a16="http://schemas.microsoft.com/office/drawing/2014/main" id="{2A3527AD-B861-8C86-5836-4E044D6ACCDB}"/>
                </a:ext>
              </a:extLst>
            </p:cNvPr>
            <p:cNvSpPr/>
            <p:nvPr/>
          </p:nvSpPr>
          <p:spPr>
            <a:xfrm>
              <a:off x="404158" y="6991356"/>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8FFF875B-B419-FBBF-D319-3E2769F8208F}"/>
                </a:ext>
              </a:extLst>
            </p:cNvPr>
            <p:cNvSpPr txBox="1"/>
            <p:nvPr/>
          </p:nvSpPr>
          <p:spPr>
            <a:xfrm>
              <a:off x="404157" y="7166119"/>
              <a:ext cx="3140709" cy="830997"/>
            </a:xfrm>
            <a:prstGeom prst="rect">
              <a:avLst/>
            </a:prstGeom>
            <a:noFill/>
          </p:spPr>
          <p:txBody>
            <a:bodyPr wrap="square" rtlCol="0">
              <a:spAutoFit/>
            </a:bodyPr>
            <a:lstStyle/>
            <a:p>
              <a:r>
                <a:rPr lang="en-US" sz="2400" spc="-150" dirty="0">
                  <a:latin typeface="Hanken Grotesk SemiBold" pitchFamily="2" charset="0"/>
                </a:rPr>
                <a:t>CONSULTING &amp; ADVISORY:</a:t>
              </a:r>
            </a:p>
          </p:txBody>
        </p:sp>
        <p:sp>
          <p:nvSpPr>
            <p:cNvPr id="54" name="TextBox 53">
              <a:extLst>
                <a:ext uri="{FF2B5EF4-FFF2-40B4-BE49-F238E27FC236}">
                  <a16:creationId xmlns:a16="http://schemas.microsoft.com/office/drawing/2014/main" id="{86F62569-D8F8-2E35-AA40-3B6596E3FC9C}"/>
                </a:ext>
              </a:extLst>
            </p:cNvPr>
            <p:cNvSpPr txBox="1"/>
            <p:nvPr/>
          </p:nvSpPr>
          <p:spPr>
            <a:xfrm>
              <a:off x="1084249" y="7025402"/>
              <a:ext cx="5516932" cy="923330"/>
            </a:xfrm>
            <a:prstGeom prst="rect">
              <a:avLst/>
            </a:prstGeom>
            <a:noFill/>
          </p:spPr>
          <p:txBody>
            <a:bodyPr wrap="square">
              <a:spAutoFit/>
            </a:bodyPr>
            <a:lstStyle/>
            <a:p>
              <a:pPr algn="r"/>
              <a:r>
                <a:rPr lang="en-US" spc="-150" dirty="0">
                  <a:latin typeface="Hanken Grotesk SemiBold" pitchFamily="2" charset="0"/>
                </a:rPr>
                <a:t>SECURITY ARCHITECTURE REVIEWS</a:t>
              </a:r>
            </a:p>
            <a:p>
              <a:pPr algn="r"/>
              <a:r>
                <a:rPr lang="en-US" spc="-150" dirty="0">
                  <a:latin typeface="Hanken Grotesk SemiBold" pitchFamily="2" charset="0"/>
                </a:rPr>
                <a:t>INCIDENT RESPONSE STRATEGY</a:t>
              </a:r>
            </a:p>
            <a:p>
              <a:pPr algn="r"/>
              <a:r>
                <a:rPr lang="en-US" spc="-150" dirty="0">
                  <a:latin typeface="Hanken Grotesk SemiBold" pitchFamily="2" charset="0"/>
                </a:rPr>
                <a:t>TOOLING RECOMMENDATIONS</a:t>
              </a:r>
            </a:p>
          </p:txBody>
        </p:sp>
        <p:sp>
          <p:nvSpPr>
            <p:cNvPr id="55" name="Rectangle 54">
              <a:extLst>
                <a:ext uri="{FF2B5EF4-FFF2-40B4-BE49-F238E27FC236}">
                  <a16:creationId xmlns:a16="http://schemas.microsoft.com/office/drawing/2014/main" id="{923EFAF3-1A3B-3863-3246-2313BD18BB16}"/>
                </a:ext>
              </a:extLst>
            </p:cNvPr>
            <p:cNvSpPr/>
            <p:nvPr/>
          </p:nvSpPr>
          <p:spPr>
            <a:xfrm>
              <a:off x="404157" y="7925872"/>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917981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B9056-120D-F8BA-FE1E-69B8D15B337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34F3DE9-2E67-FEF7-82EA-B46034F07AD5}"/>
              </a:ext>
            </a:extLst>
          </p:cNvPr>
          <p:cNvSpPr txBox="1"/>
          <p:nvPr/>
        </p:nvSpPr>
        <p:spPr>
          <a:xfrm>
            <a:off x="1514053" y="4399002"/>
            <a:ext cx="3829896" cy="1107996"/>
          </a:xfrm>
          <a:prstGeom prst="rect">
            <a:avLst/>
          </a:prstGeom>
          <a:noFill/>
        </p:spPr>
        <p:txBody>
          <a:bodyPr wrap="none" rtlCol="0">
            <a:spAutoFit/>
          </a:bodyPr>
          <a:lstStyle/>
          <a:p>
            <a:pPr algn="ctr"/>
            <a:r>
              <a:rPr lang="en-US" sz="6600" b="1" spc="-500" dirty="0">
                <a:solidFill>
                  <a:srgbClr val="AA3A1C"/>
                </a:solidFill>
                <a:latin typeface="Hanken Grotesk SemiBold" pitchFamily="2" charset="0"/>
              </a:rPr>
              <a:t>PROJECTS</a:t>
            </a:r>
          </a:p>
        </p:txBody>
      </p:sp>
      <p:sp>
        <p:nvSpPr>
          <p:cNvPr id="2" name="TextBox 1">
            <a:extLst>
              <a:ext uri="{FF2B5EF4-FFF2-40B4-BE49-F238E27FC236}">
                <a16:creationId xmlns:a16="http://schemas.microsoft.com/office/drawing/2014/main" id="{9EBE88DB-2EE9-E1C7-B1A5-71EFBEC84BD9}"/>
              </a:ext>
            </a:extLst>
          </p:cNvPr>
          <p:cNvSpPr txBox="1"/>
          <p:nvPr/>
        </p:nvSpPr>
        <p:spPr>
          <a:xfrm>
            <a:off x="404157" y="8109850"/>
            <a:ext cx="1175322"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(4)</a:t>
            </a:r>
          </a:p>
        </p:txBody>
      </p:sp>
    </p:spTree>
    <p:extLst>
      <p:ext uri="{BB962C8B-B14F-4D97-AF65-F5344CB8AC3E}">
        <p14:creationId xmlns:p14="http://schemas.microsoft.com/office/powerpoint/2010/main" val="389237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8282-9F82-AE9B-9DCB-5F6642C168F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844AD99-5E10-20A2-097F-1C3BD741126B}"/>
              </a:ext>
            </a:extLst>
          </p:cNvPr>
          <p:cNvSpPr txBox="1"/>
          <p:nvPr/>
        </p:nvSpPr>
        <p:spPr>
          <a:xfrm>
            <a:off x="323711" y="472711"/>
            <a:ext cx="3609462" cy="769441"/>
          </a:xfrm>
          <a:prstGeom prst="rect">
            <a:avLst/>
          </a:prstGeom>
          <a:noFill/>
        </p:spPr>
        <p:txBody>
          <a:bodyPr wrap="square" rtlCol="0">
            <a:spAutoFit/>
          </a:bodyPr>
          <a:lstStyle/>
          <a:p>
            <a:r>
              <a:rPr lang="en-US" sz="4400" b="1" spc="-300" dirty="0">
                <a:solidFill>
                  <a:srgbClr val="AA3A1C"/>
                </a:solidFill>
                <a:latin typeface="Hanken Grotesk SemiBold" pitchFamily="2" charset="0"/>
              </a:rPr>
              <a:t>CLIENTS</a:t>
            </a:r>
          </a:p>
        </p:txBody>
      </p:sp>
      <p:sp>
        <p:nvSpPr>
          <p:cNvPr id="2" name="TextBox 1">
            <a:extLst>
              <a:ext uri="{FF2B5EF4-FFF2-40B4-BE49-F238E27FC236}">
                <a16:creationId xmlns:a16="http://schemas.microsoft.com/office/drawing/2014/main" id="{3079D421-BB3F-F116-B334-62E1D22F1522}"/>
              </a:ext>
            </a:extLst>
          </p:cNvPr>
          <p:cNvSpPr txBox="1"/>
          <p:nvPr/>
        </p:nvSpPr>
        <p:spPr>
          <a:xfrm>
            <a:off x="2309892" y="490510"/>
            <a:ext cx="484428" cy="1107996"/>
          </a:xfrm>
          <a:prstGeom prst="rect">
            <a:avLst/>
          </a:prstGeom>
          <a:noFill/>
        </p:spPr>
        <p:txBody>
          <a:bodyPr wrap="none" rtlCol="0">
            <a:spAutoFit/>
          </a:bodyPr>
          <a:lstStyle/>
          <a:p>
            <a:r>
              <a:rPr lang="en-US" sz="6600" b="1" spc="-300" dirty="0">
                <a:solidFill>
                  <a:srgbClr val="AA3A1C"/>
                </a:solidFill>
                <a:latin typeface="Hanken Grotesk SemiBold" pitchFamily="2" charset="0"/>
              </a:rPr>
              <a:t>*</a:t>
            </a:r>
          </a:p>
        </p:txBody>
      </p:sp>
      <p:pic>
        <p:nvPicPr>
          <p:cNvPr id="6" name="Picture 5">
            <a:extLst>
              <a:ext uri="{FF2B5EF4-FFF2-40B4-BE49-F238E27FC236}">
                <a16:creationId xmlns:a16="http://schemas.microsoft.com/office/drawing/2014/main" id="{AAE17A7A-3849-1AFB-9E60-0D6C14DE9AF7}"/>
              </a:ext>
            </a:extLst>
          </p:cNvPr>
          <p:cNvPicPr>
            <a:picLocks noChangeAspect="1"/>
          </p:cNvPicPr>
          <p:nvPr/>
        </p:nvPicPr>
        <p:blipFill>
          <a:blip r:embed="rId2"/>
          <a:stretch>
            <a:fillRect/>
          </a:stretch>
        </p:blipFill>
        <p:spPr>
          <a:xfrm>
            <a:off x="659118" y="1598506"/>
            <a:ext cx="965452" cy="905527"/>
          </a:xfrm>
          <a:prstGeom prst="rect">
            <a:avLst/>
          </a:prstGeom>
        </p:spPr>
      </p:pic>
      <p:pic>
        <p:nvPicPr>
          <p:cNvPr id="8" name="Picture 7">
            <a:extLst>
              <a:ext uri="{FF2B5EF4-FFF2-40B4-BE49-F238E27FC236}">
                <a16:creationId xmlns:a16="http://schemas.microsoft.com/office/drawing/2014/main" id="{A42C0666-21D1-B03A-8436-E4BDCAB921F2}"/>
              </a:ext>
            </a:extLst>
          </p:cNvPr>
          <p:cNvPicPr>
            <a:picLocks noChangeAspect="1"/>
          </p:cNvPicPr>
          <p:nvPr/>
        </p:nvPicPr>
        <p:blipFill>
          <a:blip r:embed="rId3"/>
          <a:stretch>
            <a:fillRect/>
          </a:stretch>
        </p:blipFill>
        <p:spPr>
          <a:xfrm>
            <a:off x="2396210" y="1707871"/>
            <a:ext cx="870432" cy="686796"/>
          </a:xfrm>
          <a:prstGeom prst="rect">
            <a:avLst/>
          </a:prstGeom>
        </p:spPr>
      </p:pic>
      <p:pic>
        <p:nvPicPr>
          <p:cNvPr id="10" name="Picture 9">
            <a:extLst>
              <a:ext uri="{FF2B5EF4-FFF2-40B4-BE49-F238E27FC236}">
                <a16:creationId xmlns:a16="http://schemas.microsoft.com/office/drawing/2014/main" id="{D70936C4-9734-CB93-338E-B06C65EC8CD7}"/>
              </a:ext>
            </a:extLst>
          </p:cNvPr>
          <p:cNvPicPr>
            <a:picLocks noChangeAspect="1"/>
          </p:cNvPicPr>
          <p:nvPr/>
        </p:nvPicPr>
        <p:blipFill>
          <a:blip r:embed="rId4"/>
          <a:stretch>
            <a:fillRect/>
          </a:stretch>
        </p:blipFill>
        <p:spPr>
          <a:xfrm>
            <a:off x="3977364" y="1598505"/>
            <a:ext cx="873366" cy="905528"/>
          </a:xfrm>
          <a:prstGeom prst="rect">
            <a:avLst/>
          </a:prstGeom>
        </p:spPr>
      </p:pic>
      <p:pic>
        <p:nvPicPr>
          <p:cNvPr id="12" name="Picture 11">
            <a:extLst>
              <a:ext uri="{FF2B5EF4-FFF2-40B4-BE49-F238E27FC236}">
                <a16:creationId xmlns:a16="http://schemas.microsoft.com/office/drawing/2014/main" id="{14507100-636B-108E-EBB5-02A146E0072E}"/>
              </a:ext>
            </a:extLst>
          </p:cNvPr>
          <p:cNvPicPr>
            <a:picLocks noChangeAspect="1"/>
          </p:cNvPicPr>
          <p:nvPr/>
        </p:nvPicPr>
        <p:blipFill>
          <a:blip r:embed="rId5"/>
          <a:stretch>
            <a:fillRect/>
          </a:stretch>
        </p:blipFill>
        <p:spPr>
          <a:xfrm>
            <a:off x="5417437" y="1598505"/>
            <a:ext cx="914234" cy="847086"/>
          </a:xfrm>
          <a:prstGeom prst="rect">
            <a:avLst/>
          </a:prstGeom>
        </p:spPr>
      </p:pic>
      <p:pic>
        <p:nvPicPr>
          <p:cNvPr id="2050" name="Picture 2">
            <a:extLst>
              <a:ext uri="{FF2B5EF4-FFF2-40B4-BE49-F238E27FC236}">
                <a16:creationId xmlns:a16="http://schemas.microsoft.com/office/drawing/2014/main" id="{EA06A9B5-A056-80C9-E7A4-8B96A79BFD9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2155" y="3079315"/>
            <a:ext cx="922415" cy="22755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E32AFD47-1F52-F342-9CC4-5B367B9F419F}"/>
              </a:ext>
            </a:extLst>
          </p:cNvPr>
          <p:cNvPicPr>
            <a:picLocks noChangeAspect="1"/>
          </p:cNvPicPr>
          <p:nvPr/>
        </p:nvPicPr>
        <p:blipFill>
          <a:blip r:embed="rId7"/>
          <a:stretch>
            <a:fillRect/>
          </a:stretch>
        </p:blipFill>
        <p:spPr>
          <a:xfrm>
            <a:off x="637671" y="3682724"/>
            <a:ext cx="1008346" cy="661648"/>
          </a:xfrm>
          <a:prstGeom prst="rect">
            <a:avLst/>
          </a:prstGeom>
        </p:spPr>
      </p:pic>
      <p:pic>
        <p:nvPicPr>
          <p:cNvPr id="16" name="Picture 15">
            <a:extLst>
              <a:ext uri="{FF2B5EF4-FFF2-40B4-BE49-F238E27FC236}">
                <a16:creationId xmlns:a16="http://schemas.microsoft.com/office/drawing/2014/main" id="{F2EB726E-2A7A-9657-2A16-2C7AFD12AB06}"/>
              </a:ext>
            </a:extLst>
          </p:cNvPr>
          <p:cNvPicPr>
            <a:picLocks noChangeAspect="1"/>
          </p:cNvPicPr>
          <p:nvPr/>
        </p:nvPicPr>
        <p:blipFill>
          <a:blip r:embed="rId8"/>
          <a:stretch>
            <a:fillRect/>
          </a:stretch>
        </p:blipFill>
        <p:spPr>
          <a:xfrm>
            <a:off x="2445422" y="2912308"/>
            <a:ext cx="870432" cy="561570"/>
          </a:xfrm>
          <a:prstGeom prst="rect">
            <a:avLst/>
          </a:prstGeom>
        </p:spPr>
      </p:pic>
      <p:pic>
        <p:nvPicPr>
          <p:cNvPr id="18" name="Picture 17">
            <a:extLst>
              <a:ext uri="{FF2B5EF4-FFF2-40B4-BE49-F238E27FC236}">
                <a16:creationId xmlns:a16="http://schemas.microsoft.com/office/drawing/2014/main" id="{4DEE966B-86D4-D434-0668-DF36B105587F}"/>
              </a:ext>
            </a:extLst>
          </p:cNvPr>
          <p:cNvPicPr>
            <a:picLocks noChangeAspect="1"/>
          </p:cNvPicPr>
          <p:nvPr/>
        </p:nvPicPr>
        <p:blipFill>
          <a:blip r:embed="rId9"/>
          <a:stretch>
            <a:fillRect/>
          </a:stretch>
        </p:blipFill>
        <p:spPr>
          <a:xfrm>
            <a:off x="2193464" y="3682724"/>
            <a:ext cx="1275924" cy="600700"/>
          </a:xfrm>
          <a:prstGeom prst="rect">
            <a:avLst/>
          </a:prstGeom>
        </p:spPr>
      </p:pic>
      <p:pic>
        <p:nvPicPr>
          <p:cNvPr id="20" name="Picture 19">
            <a:extLst>
              <a:ext uri="{FF2B5EF4-FFF2-40B4-BE49-F238E27FC236}">
                <a16:creationId xmlns:a16="http://schemas.microsoft.com/office/drawing/2014/main" id="{AEB280A8-C554-DA07-D8ED-AD8389BCDC07}"/>
              </a:ext>
            </a:extLst>
          </p:cNvPr>
          <p:cNvPicPr>
            <a:picLocks noChangeAspect="1"/>
          </p:cNvPicPr>
          <p:nvPr/>
        </p:nvPicPr>
        <p:blipFill>
          <a:blip r:embed="rId10"/>
          <a:stretch>
            <a:fillRect/>
          </a:stretch>
        </p:blipFill>
        <p:spPr>
          <a:xfrm>
            <a:off x="3824141" y="3306871"/>
            <a:ext cx="1179812" cy="561570"/>
          </a:xfrm>
          <a:prstGeom prst="rect">
            <a:avLst/>
          </a:prstGeom>
        </p:spPr>
      </p:pic>
      <p:grpSp>
        <p:nvGrpSpPr>
          <p:cNvPr id="29" name="Group 28">
            <a:extLst>
              <a:ext uri="{FF2B5EF4-FFF2-40B4-BE49-F238E27FC236}">
                <a16:creationId xmlns:a16="http://schemas.microsoft.com/office/drawing/2014/main" id="{011247AF-21C0-5440-8973-B56D77BDC6BC}"/>
              </a:ext>
            </a:extLst>
          </p:cNvPr>
          <p:cNvGrpSpPr/>
          <p:nvPr/>
        </p:nvGrpSpPr>
        <p:grpSpPr>
          <a:xfrm>
            <a:off x="5284648" y="3193093"/>
            <a:ext cx="1179812" cy="916872"/>
            <a:chOff x="5284648" y="3271252"/>
            <a:chExt cx="1179812" cy="916872"/>
          </a:xfrm>
        </p:grpSpPr>
        <p:pic>
          <p:nvPicPr>
            <p:cNvPr id="26" name="Picture 25">
              <a:extLst>
                <a:ext uri="{FF2B5EF4-FFF2-40B4-BE49-F238E27FC236}">
                  <a16:creationId xmlns:a16="http://schemas.microsoft.com/office/drawing/2014/main" id="{AD8B0232-DD8C-1EF5-C873-0EC4CD88AE1A}"/>
                </a:ext>
              </a:extLst>
            </p:cNvPr>
            <p:cNvPicPr>
              <a:picLocks noChangeAspect="1"/>
            </p:cNvPicPr>
            <p:nvPr/>
          </p:nvPicPr>
          <p:blipFill>
            <a:blip r:embed="rId11"/>
            <a:stretch>
              <a:fillRect/>
            </a:stretch>
          </p:blipFill>
          <p:spPr>
            <a:xfrm>
              <a:off x="5284648" y="3271252"/>
              <a:ext cx="1179812" cy="316404"/>
            </a:xfrm>
            <a:prstGeom prst="rect">
              <a:avLst/>
            </a:prstGeom>
          </p:spPr>
        </p:pic>
        <p:pic>
          <p:nvPicPr>
            <p:cNvPr id="28" name="Picture 27">
              <a:extLst>
                <a:ext uri="{FF2B5EF4-FFF2-40B4-BE49-F238E27FC236}">
                  <a16:creationId xmlns:a16="http://schemas.microsoft.com/office/drawing/2014/main" id="{C8FB926D-4533-6C91-19ED-46670E16C4B9}"/>
                </a:ext>
              </a:extLst>
            </p:cNvPr>
            <p:cNvPicPr>
              <a:picLocks noChangeAspect="1"/>
            </p:cNvPicPr>
            <p:nvPr/>
          </p:nvPicPr>
          <p:blipFill>
            <a:blip r:embed="rId12"/>
            <a:stretch>
              <a:fillRect/>
            </a:stretch>
          </p:blipFill>
          <p:spPr>
            <a:xfrm>
              <a:off x="5321677" y="3778023"/>
              <a:ext cx="1105754" cy="410101"/>
            </a:xfrm>
            <a:prstGeom prst="rect">
              <a:avLst/>
            </a:prstGeom>
          </p:spPr>
        </p:pic>
      </p:grpSp>
      <p:sp>
        <p:nvSpPr>
          <p:cNvPr id="33" name="TextBox 32">
            <a:extLst>
              <a:ext uri="{FF2B5EF4-FFF2-40B4-BE49-F238E27FC236}">
                <a16:creationId xmlns:a16="http://schemas.microsoft.com/office/drawing/2014/main" id="{BF8438B3-BA33-F6EC-9E7C-F6B9F311D77B}"/>
              </a:ext>
            </a:extLst>
          </p:cNvPr>
          <p:cNvSpPr txBox="1"/>
          <p:nvPr/>
        </p:nvSpPr>
        <p:spPr>
          <a:xfrm>
            <a:off x="323711" y="4944605"/>
            <a:ext cx="3609462" cy="769441"/>
          </a:xfrm>
          <a:prstGeom prst="rect">
            <a:avLst/>
          </a:prstGeom>
          <a:noFill/>
        </p:spPr>
        <p:txBody>
          <a:bodyPr wrap="square" rtlCol="0">
            <a:spAutoFit/>
          </a:bodyPr>
          <a:lstStyle/>
          <a:p>
            <a:r>
              <a:rPr lang="en-US" sz="4400" b="1" spc="-300" dirty="0">
                <a:solidFill>
                  <a:srgbClr val="AA3A1C"/>
                </a:solidFill>
                <a:latin typeface="Hanken Grotesk SemiBold" pitchFamily="2" charset="0"/>
              </a:rPr>
              <a:t>HACKATHONS</a:t>
            </a:r>
          </a:p>
        </p:txBody>
      </p:sp>
      <p:sp>
        <p:nvSpPr>
          <p:cNvPr id="34" name="TextBox 33">
            <a:extLst>
              <a:ext uri="{FF2B5EF4-FFF2-40B4-BE49-F238E27FC236}">
                <a16:creationId xmlns:a16="http://schemas.microsoft.com/office/drawing/2014/main" id="{B46E69E9-9663-9013-6F87-85282630E1B1}"/>
              </a:ext>
            </a:extLst>
          </p:cNvPr>
          <p:cNvSpPr txBox="1"/>
          <p:nvPr/>
        </p:nvSpPr>
        <p:spPr>
          <a:xfrm>
            <a:off x="3735150" y="4962404"/>
            <a:ext cx="484428" cy="1107996"/>
          </a:xfrm>
          <a:prstGeom prst="rect">
            <a:avLst/>
          </a:prstGeom>
          <a:noFill/>
        </p:spPr>
        <p:txBody>
          <a:bodyPr wrap="none" rtlCol="0">
            <a:spAutoFit/>
          </a:bodyPr>
          <a:lstStyle/>
          <a:p>
            <a:r>
              <a:rPr lang="en-US" sz="6600" b="1" spc="-300" dirty="0">
                <a:solidFill>
                  <a:srgbClr val="AA3A1C"/>
                </a:solidFill>
                <a:latin typeface="Hanken Grotesk SemiBold" pitchFamily="2" charset="0"/>
              </a:rPr>
              <a:t>*</a:t>
            </a:r>
          </a:p>
        </p:txBody>
      </p:sp>
      <p:pic>
        <p:nvPicPr>
          <p:cNvPr id="2054" name="Picture 6">
            <a:extLst>
              <a:ext uri="{FF2B5EF4-FFF2-40B4-BE49-F238E27FC236}">
                <a16:creationId xmlns:a16="http://schemas.microsoft.com/office/drawing/2014/main" id="{8F9DC502-3A92-5758-9A86-2DB19A0FE0E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2088" y="6098555"/>
            <a:ext cx="1407804" cy="55334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4246B3A4-8462-C611-3EE1-D2313E1046F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77777" y="6234224"/>
            <a:ext cx="1536270" cy="28200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F75846A3-8434-4934-FAB1-150872D21C8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03953" y="6197718"/>
            <a:ext cx="1342042" cy="454182"/>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1191BEE0-1908-8A71-565E-CE62F24D984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37568" y="6971645"/>
            <a:ext cx="1429074" cy="80385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a:extLst>
              <a:ext uri="{FF2B5EF4-FFF2-40B4-BE49-F238E27FC236}">
                <a16:creationId xmlns:a16="http://schemas.microsoft.com/office/drawing/2014/main" id="{A38B81BC-529C-FDAB-9FC0-FDC39D710867}"/>
              </a:ext>
            </a:extLst>
          </p:cNvPr>
          <p:cNvPicPr>
            <a:picLocks noChangeAspect="1"/>
          </p:cNvPicPr>
          <p:nvPr/>
        </p:nvPicPr>
        <p:blipFill>
          <a:blip r:embed="rId17"/>
          <a:stretch>
            <a:fillRect/>
          </a:stretch>
        </p:blipFill>
        <p:spPr>
          <a:xfrm>
            <a:off x="4230621" y="7139130"/>
            <a:ext cx="1152342" cy="468884"/>
          </a:xfrm>
          <a:prstGeom prst="rect">
            <a:avLst/>
          </a:prstGeom>
        </p:spPr>
      </p:pic>
      <p:pic>
        <p:nvPicPr>
          <p:cNvPr id="2062" name="Picture 14">
            <a:extLst>
              <a:ext uri="{FF2B5EF4-FFF2-40B4-BE49-F238E27FC236}">
                <a16:creationId xmlns:a16="http://schemas.microsoft.com/office/drawing/2014/main" id="{0ADC6748-CA4E-D82F-318E-36141614366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97370" y="8079829"/>
            <a:ext cx="1063260" cy="1027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6704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9B9D7-109F-A4C9-BAA7-F733136E79D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4F55112-ABA4-0EC6-8887-319034860928}"/>
              </a:ext>
            </a:extLst>
          </p:cNvPr>
          <p:cNvSpPr txBox="1"/>
          <p:nvPr/>
        </p:nvSpPr>
        <p:spPr>
          <a:xfrm>
            <a:off x="323711" y="472711"/>
            <a:ext cx="4599018" cy="1446550"/>
          </a:xfrm>
          <a:prstGeom prst="rect">
            <a:avLst/>
          </a:prstGeom>
          <a:noFill/>
        </p:spPr>
        <p:txBody>
          <a:bodyPr wrap="square" rtlCol="0">
            <a:spAutoFit/>
          </a:bodyPr>
          <a:lstStyle/>
          <a:p>
            <a:r>
              <a:rPr lang="en-US" sz="4400" b="1" spc="-300" dirty="0">
                <a:solidFill>
                  <a:srgbClr val="AA3A1C"/>
                </a:solidFill>
                <a:latin typeface="Hanken Grotesk SemiBold" pitchFamily="2" charset="0"/>
              </a:rPr>
              <a:t>WEB DESIGN + DEV EXAMPLES</a:t>
            </a:r>
          </a:p>
        </p:txBody>
      </p:sp>
      <p:pic>
        <p:nvPicPr>
          <p:cNvPr id="5124" name="Picture 4">
            <a:extLst>
              <a:ext uri="{FF2B5EF4-FFF2-40B4-BE49-F238E27FC236}">
                <a16:creationId xmlns:a16="http://schemas.microsoft.com/office/drawing/2014/main" id="{F515B70D-2FC1-62E4-4767-D5C713716F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8999" y="2628587"/>
            <a:ext cx="3144033" cy="17270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0F6540F-40BB-965C-08F2-E9BDA06FB9FB}"/>
              </a:ext>
            </a:extLst>
          </p:cNvPr>
          <p:cNvPicPr>
            <a:picLocks noChangeAspect="1"/>
          </p:cNvPicPr>
          <p:nvPr/>
        </p:nvPicPr>
        <p:blipFill>
          <a:blip r:embed="rId4"/>
          <a:srcRect/>
          <a:stretch>
            <a:fillRect/>
          </a:stretch>
        </p:blipFill>
        <p:spPr>
          <a:xfrm>
            <a:off x="363255" y="2628586"/>
            <a:ext cx="2945934" cy="1727035"/>
          </a:xfrm>
          <a:prstGeom prst="rect">
            <a:avLst/>
          </a:prstGeom>
        </p:spPr>
      </p:pic>
      <p:pic>
        <p:nvPicPr>
          <p:cNvPr id="5128" name="Picture 8">
            <a:extLst>
              <a:ext uri="{FF2B5EF4-FFF2-40B4-BE49-F238E27FC236}">
                <a16:creationId xmlns:a16="http://schemas.microsoft.com/office/drawing/2014/main" id="{AF82A6FA-841A-3590-C175-D647DC8479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255" y="4652375"/>
            <a:ext cx="2945934" cy="16182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2A932419-F1D8-9152-59BA-9375260DB43E}"/>
              </a:ext>
            </a:extLst>
          </p:cNvPr>
          <p:cNvPicPr>
            <a:picLocks noChangeAspect="1"/>
          </p:cNvPicPr>
          <p:nvPr/>
        </p:nvPicPr>
        <p:blipFill>
          <a:blip r:embed="rId6"/>
          <a:srcRect b="6774"/>
          <a:stretch>
            <a:fillRect/>
          </a:stretch>
        </p:blipFill>
        <p:spPr>
          <a:xfrm>
            <a:off x="3428999" y="4652376"/>
            <a:ext cx="3144033" cy="1618218"/>
          </a:xfrm>
          <a:prstGeom prst="rect">
            <a:avLst/>
          </a:prstGeom>
        </p:spPr>
      </p:pic>
      <p:pic>
        <p:nvPicPr>
          <p:cNvPr id="13" name="Picture 12">
            <a:extLst>
              <a:ext uri="{FF2B5EF4-FFF2-40B4-BE49-F238E27FC236}">
                <a16:creationId xmlns:a16="http://schemas.microsoft.com/office/drawing/2014/main" id="{B8AB56BD-AE51-8678-DED9-2F2D546FB3CD}"/>
              </a:ext>
            </a:extLst>
          </p:cNvPr>
          <p:cNvPicPr>
            <a:picLocks noChangeAspect="1"/>
          </p:cNvPicPr>
          <p:nvPr/>
        </p:nvPicPr>
        <p:blipFill>
          <a:blip r:embed="rId7"/>
          <a:stretch>
            <a:fillRect/>
          </a:stretch>
        </p:blipFill>
        <p:spPr>
          <a:xfrm>
            <a:off x="1636211" y="6567347"/>
            <a:ext cx="3286518" cy="1837412"/>
          </a:xfrm>
          <a:prstGeom prst="rect">
            <a:avLst/>
          </a:prstGeom>
        </p:spPr>
      </p:pic>
      <p:sp>
        <p:nvSpPr>
          <p:cNvPr id="15" name="TextBox 14">
            <a:extLst>
              <a:ext uri="{FF2B5EF4-FFF2-40B4-BE49-F238E27FC236}">
                <a16:creationId xmlns:a16="http://schemas.microsoft.com/office/drawing/2014/main" id="{08E89249-021E-32CC-B3D7-B4BF103B8BC1}"/>
              </a:ext>
            </a:extLst>
          </p:cNvPr>
          <p:cNvSpPr txBox="1"/>
          <p:nvPr/>
        </p:nvSpPr>
        <p:spPr>
          <a:xfrm>
            <a:off x="405294" y="8701512"/>
            <a:ext cx="6070662" cy="400110"/>
          </a:xfrm>
          <a:prstGeom prst="rect">
            <a:avLst/>
          </a:prstGeom>
          <a:noFill/>
        </p:spPr>
        <p:txBody>
          <a:bodyPr wrap="square" rtlCol="0">
            <a:spAutoFit/>
          </a:bodyPr>
          <a:lstStyle/>
          <a:p>
            <a:pPr algn="ctr"/>
            <a:r>
              <a:rPr lang="en-US" sz="2000" spc="-150" dirty="0">
                <a:latin typeface="Hanken Grotesk SemiBold" pitchFamily="2" charset="0"/>
              </a:rPr>
              <a:t>these are functional web applications i’ve built over time</a:t>
            </a:r>
          </a:p>
        </p:txBody>
      </p:sp>
      <p:sp>
        <p:nvSpPr>
          <p:cNvPr id="17" name="TextBox 16">
            <a:extLst>
              <a:ext uri="{FF2B5EF4-FFF2-40B4-BE49-F238E27FC236}">
                <a16:creationId xmlns:a16="http://schemas.microsoft.com/office/drawing/2014/main" id="{4F95406D-584E-AF4C-CACA-FF3590DB90A2}"/>
              </a:ext>
            </a:extLst>
          </p:cNvPr>
          <p:cNvSpPr txBox="1"/>
          <p:nvPr/>
        </p:nvSpPr>
        <p:spPr>
          <a:xfrm>
            <a:off x="430346" y="8676460"/>
            <a:ext cx="319128" cy="646331"/>
          </a:xfrm>
          <a:prstGeom prst="rect">
            <a:avLst/>
          </a:prstGeom>
          <a:noFill/>
        </p:spPr>
        <p:txBody>
          <a:bodyPr wrap="square" rtlCol="0">
            <a:spAutoFit/>
          </a:bodyPr>
          <a:lstStyle/>
          <a:p>
            <a:pPr algn="ctr"/>
            <a:r>
              <a:rPr lang="en-US" sz="3600" spc="-150" dirty="0">
                <a:latin typeface="Hanken Grotesk SemiBold" pitchFamily="2" charset="0"/>
              </a:rPr>
              <a:t>*</a:t>
            </a:r>
          </a:p>
        </p:txBody>
      </p:sp>
      <p:sp>
        <p:nvSpPr>
          <p:cNvPr id="21" name="TextBox 20">
            <a:extLst>
              <a:ext uri="{FF2B5EF4-FFF2-40B4-BE49-F238E27FC236}">
                <a16:creationId xmlns:a16="http://schemas.microsoft.com/office/drawing/2014/main" id="{E65024B6-A572-BF80-2D57-33057B518FFC}"/>
              </a:ext>
            </a:extLst>
          </p:cNvPr>
          <p:cNvSpPr txBox="1"/>
          <p:nvPr/>
        </p:nvSpPr>
        <p:spPr>
          <a:xfrm>
            <a:off x="363255" y="1820501"/>
            <a:ext cx="2718148" cy="338554"/>
          </a:xfrm>
          <a:prstGeom prst="rect">
            <a:avLst/>
          </a:prstGeom>
          <a:noFill/>
        </p:spPr>
        <p:txBody>
          <a:bodyPr wrap="square">
            <a:spAutoFit/>
          </a:bodyPr>
          <a:lstStyle/>
          <a:p>
            <a:r>
              <a:rPr lang="en-US" sz="1600" spc="-220" dirty="0">
                <a:solidFill>
                  <a:srgbClr val="AA3A1C">
                    <a:alpha val="30000"/>
                  </a:srgbClr>
                </a:solidFill>
                <a:latin typeface="Hanken Grotesk SemiBold" pitchFamily="2" charset="0"/>
              </a:rPr>
              <a:t>SECURITY × ENGINEERING × DESIGN</a:t>
            </a:r>
          </a:p>
        </p:txBody>
      </p:sp>
    </p:spTree>
    <p:extLst>
      <p:ext uri="{BB962C8B-B14F-4D97-AF65-F5344CB8AC3E}">
        <p14:creationId xmlns:p14="http://schemas.microsoft.com/office/powerpoint/2010/main" val="713694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DFC99-17D5-F72B-0728-A8221D90D91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ADDD778-00A8-832D-3838-99F45C5E23AB}"/>
              </a:ext>
            </a:extLst>
          </p:cNvPr>
          <p:cNvSpPr txBox="1"/>
          <p:nvPr/>
        </p:nvSpPr>
        <p:spPr>
          <a:xfrm>
            <a:off x="323711" y="472711"/>
            <a:ext cx="4599018" cy="1446550"/>
          </a:xfrm>
          <a:prstGeom prst="rect">
            <a:avLst/>
          </a:prstGeom>
          <a:noFill/>
        </p:spPr>
        <p:txBody>
          <a:bodyPr wrap="square" rtlCol="0">
            <a:spAutoFit/>
          </a:bodyPr>
          <a:lstStyle/>
          <a:p>
            <a:r>
              <a:rPr lang="en-US" sz="4400" b="1" spc="-300" dirty="0">
                <a:solidFill>
                  <a:srgbClr val="AA3A1C"/>
                </a:solidFill>
                <a:latin typeface="Hanken Grotesk SemiBold" pitchFamily="2" charset="0"/>
              </a:rPr>
              <a:t>MOBILE DESIGN EXAMPLES</a:t>
            </a:r>
          </a:p>
        </p:txBody>
      </p:sp>
      <p:sp>
        <p:nvSpPr>
          <p:cNvPr id="15" name="TextBox 14">
            <a:extLst>
              <a:ext uri="{FF2B5EF4-FFF2-40B4-BE49-F238E27FC236}">
                <a16:creationId xmlns:a16="http://schemas.microsoft.com/office/drawing/2014/main" id="{C1E75588-7A81-BE33-2635-689725429B58}"/>
              </a:ext>
            </a:extLst>
          </p:cNvPr>
          <p:cNvSpPr txBox="1"/>
          <p:nvPr/>
        </p:nvSpPr>
        <p:spPr>
          <a:xfrm>
            <a:off x="430346" y="8701512"/>
            <a:ext cx="6020558" cy="707886"/>
          </a:xfrm>
          <a:prstGeom prst="rect">
            <a:avLst/>
          </a:prstGeom>
          <a:noFill/>
        </p:spPr>
        <p:txBody>
          <a:bodyPr wrap="square" rtlCol="0">
            <a:spAutoFit/>
          </a:bodyPr>
          <a:lstStyle/>
          <a:p>
            <a:pPr algn="ctr"/>
            <a:r>
              <a:rPr lang="en-US" sz="2000" spc="-150" dirty="0">
                <a:latin typeface="Hanken Grotesk SemiBold" pitchFamily="2" charset="0"/>
              </a:rPr>
              <a:t>these are functional mobile applications i’ve built with people</a:t>
            </a:r>
          </a:p>
        </p:txBody>
      </p:sp>
      <p:sp>
        <p:nvSpPr>
          <p:cNvPr id="17" name="TextBox 16">
            <a:extLst>
              <a:ext uri="{FF2B5EF4-FFF2-40B4-BE49-F238E27FC236}">
                <a16:creationId xmlns:a16="http://schemas.microsoft.com/office/drawing/2014/main" id="{A63031FE-D11E-8064-C102-CD4B0A5F1C32}"/>
              </a:ext>
            </a:extLst>
          </p:cNvPr>
          <p:cNvSpPr txBox="1"/>
          <p:nvPr/>
        </p:nvSpPr>
        <p:spPr>
          <a:xfrm>
            <a:off x="580658" y="8676460"/>
            <a:ext cx="319128" cy="646331"/>
          </a:xfrm>
          <a:prstGeom prst="rect">
            <a:avLst/>
          </a:prstGeom>
          <a:noFill/>
        </p:spPr>
        <p:txBody>
          <a:bodyPr wrap="square" rtlCol="0">
            <a:spAutoFit/>
          </a:bodyPr>
          <a:lstStyle/>
          <a:p>
            <a:pPr algn="ctr"/>
            <a:r>
              <a:rPr lang="en-US" sz="3600" spc="-150" dirty="0">
                <a:latin typeface="Hanken Grotesk SemiBold" pitchFamily="2" charset="0"/>
              </a:rPr>
              <a:t>*</a:t>
            </a:r>
          </a:p>
        </p:txBody>
      </p:sp>
      <p:pic>
        <p:nvPicPr>
          <p:cNvPr id="3" name="Picture 2">
            <a:extLst>
              <a:ext uri="{FF2B5EF4-FFF2-40B4-BE49-F238E27FC236}">
                <a16:creationId xmlns:a16="http://schemas.microsoft.com/office/drawing/2014/main" id="{820D5C71-0DB8-A43C-5F73-E9C56A64BF10}"/>
              </a:ext>
            </a:extLst>
          </p:cNvPr>
          <p:cNvPicPr>
            <a:picLocks noChangeAspect="1"/>
          </p:cNvPicPr>
          <p:nvPr/>
        </p:nvPicPr>
        <p:blipFill>
          <a:blip r:embed="rId3"/>
          <a:stretch>
            <a:fillRect/>
          </a:stretch>
        </p:blipFill>
        <p:spPr>
          <a:xfrm>
            <a:off x="580658" y="2508346"/>
            <a:ext cx="1683651" cy="3005872"/>
          </a:xfrm>
          <a:prstGeom prst="rect">
            <a:avLst/>
          </a:prstGeom>
        </p:spPr>
      </p:pic>
      <p:pic>
        <p:nvPicPr>
          <p:cNvPr id="7" name="Picture 6">
            <a:extLst>
              <a:ext uri="{FF2B5EF4-FFF2-40B4-BE49-F238E27FC236}">
                <a16:creationId xmlns:a16="http://schemas.microsoft.com/office/drawing/2014/main" id="{37B61C46-31C3-137D-1EDE-50BFDE0A6FFC}"/>
              </a:ext>
            </a:extLst>
          </p:cNvPr>
          <p:cNvPicPr>
            <a:picLocks noChangeAspect="1"/>
          </p:cNvPicPr>
          <p:nvPr/>
        </p:nvPicPr>
        <p:blipFill>
          <a:blip r:embed="rId4"/>
          <a:stretch>
            <a:fillRect/>
          </a:stretch>
        </p:blipFill>
        <p:spPr>
          <a:xfrm>
            <a:off x="4549965" y="2508346"/>
            <a:ext cx="1908206" cy="3005873"/>
          </a:xfrm>
          <a:prstGeom prst="rect">
            <a:avLst/>
          </a:prstGeom>
        </p:spPr>
      </p:pic>
      <p:pic>
        <p:nvPicPr>
          <p:cNvPr id="10" name="Picture 9">
            <a:extLst>
              <a:ext uri="{FF2B5EF4-FFF2-40B4-BE49-F238E27FC236}">
                <a16:creationId xmlns:a16="http://schemas.microsoft.com/office/drawing/2014/main" id="{B06EC9A8-D923-253F-1E25-269D20855C42}"/>
              </a:ext>
            </a:extLst>
          </p:cNvPr>
          <p:cNvPicPr>
            <a:picLocks noChangeAspect="1"/>
          </p:cNvPicPr>
          <p:nvPr/>
        </p:nvPicPr>
        <p:blipFill>
          <a:blip r:embed="rId5"/>
          <a:stretch>
            <a:fillRect/>
          </a:stretch>
        </p:blipFill>
        <p:spPr>
          <a:xfrm>
            <a:off x="2461364" y="4778465"/>
            <a:ext cx="1935272" cy="3333962"/>
          </a:xfrm>
          <a:prstGeom prst="rect">
            <a:avLst/>
          </a:prstGeom>
        </p:spPr>
      </p:pic>
      <p:sp>
        <p:nvSpPr>
          <p:cNvPr id="11" name="TextBox 10">
            <a:extLst>
              <a:ext uri="{FF2B5EF4-FFF2-40B4-BE49-F238E27FC236}">
                <a16:creationId xmlns:a16="http://schemas.microsoft.com/office/drawing/2014/main" id="{664768A3-BCE2-7D28-5968-D3B3381EDF85}"/>
              </a:ext>
            </a:extLst>
          </p:cNvPr>
          <p:cNvSpPr txBox="1"/>
          <p:nvPr/>
        </p:nvSpPr>
        <p:spPr>
          <a:xfrm>
            <a:off x="363255" y="1820501"/>
            <a:ext cx="2718148" cy="338554"/>
          </a:xfrm>
          <a:prstGeom prst="rect">
            <a:avLst/>
          </a:prstGeom>
          <a:noFill/>
        </p:spPr>
        <p:txBody>
          <a:bodyPr wrap="square">
            <a:spAutoFit/>
          </a:bodyPr>
          <a:lstStyle/>
          <a:p>
            <a:r>
              <a:rPr lang="en-US" sz="1600" spc="-220" dirty="0">
                <a:solidFill>
                  <a:srgbClr val="AA3A1C">
                    <a:alpha val="30000"/>
                  </a:srgbClr>
                </a:solidFill>
                <a:latin typeface="Hanken Grotesk SemiBold" pitchFamily="2" charset="0"/>
              </a:rPr>
              <a:t>SECURITY × ENGINEERING × DESIGN</a:t>
            </a:r>
          </a:p>
        </p:txBody>
      </p:sp>
    </p:spTree>
    <p:extLst>
      <p:ext uri="{BB962C8B-B14F-4D97-AF65-F5344CB8AC3E}">
        <p14:creationId xmlns:p14="http://schemas.microsoft.com/office/powerpoint/2010/main" val="679473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4C0F3-6525-A65C-C124-5A20685C6E2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369B115-0588-98CF-6621-0E55ECCBAF6C}"/>
              </a:ext>
            </a:extLst>
          </p:cNvPr>
          <p:cNvSpPr txBox="1"/>
          <p:nvPr/>
        </p:nvSpPr>
        <p:spPr>
          <a:xfrm>
            <a:off x="323711" y="472711"/>
            <a:ext cx="4599018" cy="1446550"/>
          </a:xfrm>
          <a:prstGeom prst="rect">
            <a:avLst/>
          </a:prstGeom>
          <a:noFill/>
        </p:spPr>
        <p:txBody>
          <a:bodyPr wrap="square" rtlCol="0">
            <a:spAutoFit/>
          </a:bodyPr>
          <a:lstStyle/>
          <a:p>
            <a:r>
              <a:rPr lang="en-US" sz="4400" b="1" spc="-300" dirty="0">
                <a:solidFill>
                  <a:srgbClr val="AA3A1C"/>
                </a:solidFill>
                <a:latin typeface="Hanken Grotesk SemiBold" pitchFamily="2" charset="0"/>
              </a:rPr>
              <a:t>SECURITY DESIGN EXAMPLES</a:t>
            </a:r>
          </a:p>
        </p:txBody>
      </p:sp>
      <p:sp>
        <p:nvSpPr>
          <p:cNvPr id="15" name="TextBox 14">
            <a:extLst>
              <a:ext uri="{FF2B5EF4-FFF2-40B4-BE49-F238E27FC236}">
                <a16:creationId xmlns:a16="http://schemas.microsoft.com/office/drawing/2014/main" id="{6305AA4F-4330-682C-BB08-242B85BB6F64}"/>
              </a:ext>
            </a:extLst>
          </p:cNvPr>
          <p:cNvSpPr txBox="1"/>
          <p:nvPr/>
        </p:nvSpPr>
        <p:spPr>
          <a:xfrm>
            <a:off x="430346" y="8701512"/>
            <a:ext cx="6020558" cy="707886"/>
          </a:xfrm>
          <a:prstGeom prst="rect">
            <a:avLst/>
          </a:prstGeom>
          <a:noFill/>
        </p:spPr>
        <p:txBody>
          <a:bodyPr wrap="square" rtlCol="0">
            <a:spAutoFit/>
          </a:bodyPr>
          <a:lstStyle/>
          <a:p>
            <a:pPr algn="ctr"/>
            <a:r>
              <a:rPr lang="en-US" sz="2000" spc="-150" dirty="0">
                <a:latin typeface="Hanken Grotesk SemiBold" pitchFamily="2" charset="0"/>
              </a:rPr>
              <a:t>these are functional security software i’ve built + research work i’ve published over time</a:t>
            </a:r>
          </a:p>
        </p:txBody>
      </p:sp>
      <p:sp>
        <p:nvSpPr>
          <p:cNvPr id="17" name="TextBox 16">
            <a:extLst>
              <a:ext uri="{FF2B5EF4-FFF2-40B4-BE49-F238E27FC236}">
                <a16:creationId xmlns:a16="http://schemas.microsoft.com/office/drawing/2014/main" id="{95624ECD-9959-273C-8683-7B1953BA3110}"/>
              </a:ext>
            </a:extLst>
          </p:cNvPr>
          <p:cNvSpPr txBox="1"/>
          <p:nvPr/>
        </p:nvSpPr>
        <p:spPr>
          <a:xfrm>
            <a:off x="382222" y="8676460"/>
            <a:ext cx="290116" cy="646331"/>
          </a:xfrm>
          <a:prstGeom prst="rect">
            <a:avLst/>
          </a:prstGeom>
          <a:noFill/>
        </p:spPr>
        <p:txBody>
          <a:bodyPr wrap="square" rtlCol="0">
            <a:spAutoFit/>
          </a:bodyPr>
          <a:lstStyle/>
          <a:p>
            <a:pPr algn="ctr"/>
            <a:r>
              <a:rPr lang="en-US" sz="3600" spc="-150" dirty="0">
                <a:latin typeface="Hanken Grotesk SemiBold" pitchFamily="2" charset="0"/>
              </a:rPr>
              <a:t>*</a:t>
            </a:r>
          </a:p>
        </p:txBody>
      </p:sp>
      <p:sp>
        <p:nvSpPr>
          <p:cNvPr id="2" name="TextBox 1">
            <a:extLst>
              <a:ext uri="{FF2B5EF4-FFF2-40B4-BE49-F238E27FC236}">
                <a16:creationId xmlns:a16="http://schemas.microsoft.com/office/drawing/2014/main" id="{8B9196A0-9452-4769-523F-23B3CD8E8460}"/>
              </a:ext>
            </a:extLst>
          </p:cNvPr>
          <p:cNvSpPr txBox="1"/>
          <p:nvPr/>
        </p:nvSpPr>
        <p:spPr>
          <a:xfrm>
            <a:off x="363255" y="1820501"/>
            <a:ext cx="2718148" cy="338554"/>
          </a:xfrm>
          <a:prstGeom prst="rect">
            <a:avLst/>
          </a:prstGeom>
          <a:noFill/>
        </p:spPr>
        <p:txBody>
          <a:bodyPr wrap="square">
            <a:spAutoFit/>
          </a:bodyPr>
          <a:lstStyle/>
          <a:p>
            <a:r>
              <a:rPr lang="en-US" sz="1600" spc="-220" dirty="0">
                <a:solidFill>
                  <a:srgbClr val="AA3A1C">
                    <a:alpha val="30000"/>
                  </a:srgbClr>
                </a:solidFill>
                <a:latin typeface="Hanken Grotesk SemiBold" pitchFamily="2" charset="0"/>
              </a:rPr>
              <a:t>SECURITY × ENGINEERING × DESIGN</a:t>
            </a:r>
          </a:p>
        </p:txBody>
      </p:sp>
      <p:pic>
        <p:nvPicPr>
          <p:cNvPr id="21" name="Picture 20">
            <a:extLst>
              <a:ext uri="{FF2B5EF4-FFF2-40B4-BE49-F238E27FC236}">
                <a16:creationId xmlns:a16="http://schemas.microsoft.com/office/drawing/2014/main" id="{B089C475-64B7-13CF-67B2-E2F507783AE2}"/>
              </a:ext>
            </a:extLst>
          </p:cNvPr>
          <p:cNvPicPr>
            <a:picLocks noChangeAspect="1"/>
          </p:cNvPicPr>
          <p:nvPr/>
        </p:nvPicPr>
        <p:blipFill>
          <a:blip r:embed="rId3"/>
          <a:stretch>
            <a:fillRect/>
          </a:stretch>
        </p:blipFill>
        <p:spPr>
          <a:xfrm>
            <a:off x="430346" y="2993720"/>
            <a:ext cx="2953995" cy="1213907"/>
          </a:xfrm>
          <a:prstGeom prst="rect">
            <a:avLst/>
          </a:prstGeom>
        </p:spPr>
      </p:pic>
      <p:sp>
        <p:nvSpPr>
          <p:cNvPr id="22" name="TextBox 21">
            <a:extLst>
              <a:ext uri="{FF2B5EF4-FFF2-40B4-BE49-F238E27FC236}">
                <a16:creationId xmlns:a16="http://schemas.microsoft.com/office/drawing/2014/main" id="{FB494FEF-D9B4-CD12-97C2-896EB7750463}"/>
              </a:ext>
            </a:extLst>
          </p:cNvPr>
          <p:cNvSpPr txBox="1"/>
          <p:nvPr/>
        </p:nvSpPr>
        <p:spPr>
          <a:xfrm>
            <a:off x="3473661" y="2785065"/>
            <a:ext cx="3058501" cy="1631216"/>
          </a:xfrm>
          <a:prstGeom prst="rect">
            <a:avLst/>
          </a:prstGeom>
          <a:noFill/>
        </p:spPr>
        <p:txBody>
          <a:bodyPr wrap="square" rtlCol="0">
            <a:spAutoFit/>
          </a:bodyPr>
          <a:lstStyle/>
          <a:p>
            <a:r>
              <a:rPr lang="en-US" sz="2800" b="1" spc="-300" dirty="0">
                <a:solidFill>
                  <a:srgbClr val="AA3A1C"/>
                </a:solidFill>
                <a:latin typeface="Hanken Grotesk SemiBold" pitchFamily="2" charset="0"/>
              </a:rPr>
              <a:t>HAWK</a:t>
            </a:r>
          </a:p>
          <a:p>
            <a:r>
              <a:rPr lang="en-US" sz="2400" b="1" spc="-300" dirty="0">
                <a:solidFill>
                  <a:srgbClr val="AA3A1C"/>
                </a:solidFill>
                <a:latin typeface="Hanken Grotesk SemiBold" pitchFamily="2" charset="0"/>
              </a:rPr>
              <a:t>a python re-implementation of a post quantum crypto framework </a:t>
            </a:r>
            <a:r>
              <a:rPr lang="en-US" sz="2400" b="1" spc="-300" dirty="0">
                <a:solidFill>
                  <a:srgbClr val="AA3A1C">
                    <a:alpha val="30000"/>
                  </a:srgbClr>
                </a:solidFill>
                <a:latin typeface="Hanken Grotesk SemiBold" pitchFamily="2" charset="0"/>
              </a:rPr>
              <a:t>(pedagogy)</a:t>
            </a:r>
          </a:p>
        </p:txBody>
      </p:sp>
      <p:pic>
        <p:nvPicPr>
          <p:cNvPr id="7170" name="Picture 2" descr="SAP Signature Management by DocuSign - dataworld">
            <a:extLst>
              <a:ext uri="{FF2B5EF4-FFF2-40B4-BE49-F238E27FC236}">
                <a16:creationId xmlns:a16="http://schemas.microsoft.com/office/drawing/2014/main" id="{164DB460-9D9A-95C9-00E1-D2FA1AF2D4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84341" y="4944034"/>
            <a:ext cx="3181611" cy="1498009"/>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37A18020-B9BB-1692-4EC0-94289A945298}"/>
              </a:ext>
            </a:extLst>
          </p:cNvPr>
          <p:cNvSpPr txBox="1"/>
          <p:nvPr/>
        </p:nvSpPr>
        <p:spPr>
          <a:xfrm>
            <a:off x="323711" y="5003099"/>
            <a:ext cx="3058501" cy="1384995"/>
          </a:xfrm>
          <a:prstGeom prst="rect">
            <a:avLst/>
          </a:prstGeom>
          <a:noFill/>
        </p:spPr>
        <p:txBody>
          <a:bodyPr wrap="square" rtlCol="0">
            <a:spAutoFit/>
          </a:bodyPr>
          <a:lstStyle/>
          <a:p>
            <a:r>
              <a:rPr lang="en-US" sz="2800" b="1" spc="-300" dirty="0">
                <a:solidFill>
                  <a:srgbClr val="AA3A1C"/>
                </a:solidFill>
                <a:latin typeface="Hanken Grotesk SemiBold" pitchFamily="2" charset="0"/>
              </a:rPr>
              <a:t>arbitrary-order secure multi-sign algorithm for document signing</a:t>
            </a:r>
            <a:endParaRPr lang="en-US" sz="2400" b="1" spc="-300" dirty="0">
              <a:solidFill>
                <a:srgbClr val="AA3A1C">
                  <a:alpha val="30000"/>
                </a:srgbClr>
              </a:solidFill>
              <a:latin typeface="Hanken Grotesk SemiBold" pitchFamily="2" charset="0"/>
            </a:endParaRPr>
          </a:p>
        </p:txBody>
      </p:sp>
      <p:pic>
        <p:nvPicPr>
          <p:cNvPr id="25" name="Picture 24">
            <a:extLst>
              <a:ext uri="{FF2B5EF4-FFF2-40B4-BE49-F238E27FC236}">
                <a16:creationId xmlns:a16="http://schemas.microsoft.com/office/drawing/2014/main" id="{960C010B-192B-2324-10B5-02BCC8BEB02F}"/>
              </a:ext>
            </a:extLst>
          </p:cNvPr>
          <p:cNvPicPr>
            <a:picLocks noChangeAspect="1"/>
          </p:cNvPicPr>
          <p:nvPr/>
        </p:nvPicPr>
        <p:blipFill>
          <a:blip r:embed="rId5"/>
          <a:stretch>
            <a:fillRect/>
          </a:stretch>
        </p:blipFill>
        <p:spPr>
          <a:xfrm>
            <a:off x="323710" y="6828336"/>
            <a:ext cx="3058501" cy="1407881"/>
          </a:xfrm>
          <a:prstGeom prst="rect">
            <a:avLst/>
          </a:prstGeom>
        </p:spPr>
      </p:pic>
      <p:sp>
        <p:nvSpPr>
          <p:cNvPr id="26" name="TextBox 25">
            <a:extLst>
              <a:ext uri="{FF2B5EF4-FFF2-40B4-BE49-F238E27FC236}">
                <a16:creationId xmlns:a16="http://schemas.microsoft.com/office/drawing/2014/main" id="{57519B66-D491-A007-6603-B7101BD5E95E}"/>
              </a:ext>
            </a:extLst>
          </p:cNvPr>
          <p:cNvSpPr txBox="1"/>
          <p:nvPr/>
        </p:nvSpPr>
        <p:spPr>
          <a:xfrm>
            <a:off x="3473661" y="6796160"/>
            <a:ext cx="3181448" cy="1261884"/>
          </a:xfrm>
          <a:prstGeom prst="rect">
            <a:avLst/>
          </a:prstGeom>
          <a:noFill/>
        </p:spPr>
        <p:txBody>
          <a:bodyPr wrap="square" rtlCol="0">
            <a:spAutoFit/>
          </a:bodyPr>
          <a:lstStyle/>
          <a:p>
            <a:r>
              <a:rPr lang="en-US" sz="2800" b="1" spc="-300" dirty="0" err="1">
                <a:solidFill>
                  <a:srgbClr val="AA3A1C"/>
                </a:solidFill>
                <a:latin typeface="Hanken Grotesk SemiBold" pitchFamily="2" charset="0"/>
              </a:rPr>
              <a:t>SentinelEye</a:t>
            </a:r>
            <a:endParaRPr lang="en-US" sz="2800" b="1" spc="-300" dirty="0">
              <a:solidFill>
                <a:srgbClr val="AA3A1C"/>
              </a:solidFill>
              <a:latin typeface="Hanken Grotesk SemiBold" pitchFamily="2" charset="0"/>
            </a:endParaRPr>
          </a:p>
          <a:p>
            <a:r>
              <a:rPr lang="en-US" sz="2400" b="1" spc="-300" dirty="0">
                <a:solidFill>
                  <a:srgbClr val="AA3A1C"/>
                </a:solidFill>
                <a:latin typeface="Hanken Grotesk SemiBold" pitchFamily="2" charset="0"/>
              </a:rPr>
              <a:t>public visibility security framework for organizations</a:t>
            </a:r>
            <a:endParaRPr lang="en-US" sz="2400" b="1" spc="-300" dirty="0">
              <a:solidFill>
                <a:srgbClr val="AA3A1C">
                  <a:alpha val="30000"/>
                </a:srgbClr>
              </a:solidFill>
              <a:latin typeface="Hanken Grotesk SemiBold" pitchFamily="2" charset="0"/>
            </a:endParaRPr>
          </a:p>
        </p:txBody>
      </p:sp>
    </p:spTree>
    <p:extLst>
      <p:ext uri="{BB962C8B-B14F-4D97-AF65-F5344CB8AC3E}">
        <p14:creationId xmlns:p14="http://schemas.microsoft.com/office/powerpoint/2010/main" val="1566399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00F72-E2C7-595C-59CC-BBE94CC1AB5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20A1CAD-4FDB-9398-B59A-CCA9292B0D7B}"/>
              </a:ext>
            </a:extLst>
          </p:cNvPr>
          <p:cNvSpPr txBox="1"/>
          <p:nvPr/>
        </p:nvSpPr>
        <p:spPr>
          <a:xfrm>
            <a:off x="323711" y="472711"/>
            <a:ext cx="4599018" cy="1446550"/>
          </a:xfrm>
          <a:prstGeom prst="rect">
            <a:avLst/>
          </a:prstGeom>
          <a:noFill/>
        </p:spPr>
        <p:txBody>
          <a:bodyPr wrap="square" rtlCol="0">
            <a:spAutoFit/>
          </a:bodyPr>
          <a:lstStyle/>
          <a:p>
            <a:r>
              <a:rPr lang="en-US" sz="4400" b="1" spc="-300" dirty="0">
                <a:solidFill>
                  <a:srgbClr val="AA3A1C"/>
                </a:solidFill>
                <a:latin typeface="Hanken Grotesk SemiBold" pitchFamily="2" charset="0"/>
              </a:rPr>
              <a:t>SECURITY DESIGN EXAMPLES</a:t>
            </a:r>
          </a:p>
        </p:txBody>
      </p:sp>
      <p:sp>
        <p:nvSpPr>
          <p:cNvPr id="15" name="TextBox 14">
            <a:extLst>
              <a:ext uri="{FF2B5EF4-FFF2-40B4-BE49-F238E27FC236}">
                <a16:creationId xmlns:a16="http://schemas.microsoft.com/office/drawing/2014/main" id="{E0D81258-096D-5C57-3CF5-678DF47AB176}"/>
              </a:ext>
            </a:extLst>
          </p:cNvPr>
          <p:cNvSpPr txBox="1"/>
          <p:nvPr/>
        </p:nvSpPr>
        <p:spPr>
          <a:xfrm>
            <a:off x="430346" y="8701512"/>
            <a:ext cx="6020558" cy="707886"/>
          </a:xfrm>
          <a:prstGeom prst="rect">
            <a:avLst/>
          </a:prstGeom>
          <a:noFill/>
        </p:spPr>
        <p:txBody>
          <a:bodyPr wrap="square" rtlCol="0">
            <a:spAutoFit/>
          </a:bodyPr>
          <a:lstStyle/>
          <a:p>
            <a:pPr algn="ctr"/>
            <a:r>
              <a:rPr lang="en-US" sz="2000" spc="-150" dirty="0">
                <a:latin typeface="Hanken Grotesk SemiBold" pitchFamily="2" charset="0"/>
              </a:rPr>
              <a:t>these are functional security software i’ve built + research work i’ve published over time</a:t>
            </a:r>
          </a:p>
        </p:txBody>
      </p:sp>
      <p:sp>
        <p:nvSpPr>
          <p:cNvPr id="17" name="TextBox 16">
            <a:extLst>
              <a:ext uri="{FF2B5EF4-FFF2-40B4-BE49-F238E27FC236}">
                <a16:creationId xmlns:a16="http://schemas.microsoft.com/office/drawing/2014/main" id="{27AD3012-98A2-2690-3096-658092DD7EEF}"/>
              </a:ext>
            </a:extLst>
          </p:cNvPr>
          <p:cNvSpPr txBox="1"/>
          <p:nvPr/>
        </p:nvSpPr>
        <p:spPr>
          <a:xfrm>
            <a:off x="382222" y="8676460"/>
            <a:ext cx="290116" cy="646331"/>
          </a:xfrm>
          <a:prstGeom prst="rect">
            <a:avLst/>
          </a:prstGeom>
          <a:noFill/>
        </p:spPr>
        <p:txBody>
          <a:bodyPr wrap="square" rtlCol="0">
            <a:spAutoFit/>
          </a:bodyPr>
          <a:lstStyle/>
          <a:p>
            <a:pPr algn="ctr"/>
            <a:r>
              <a:rPr lang="en-US" sz="3600" spc="-150" dirty="0">
                <a:latin typeface="Hanken Grotesk SemiBold" pitchFamily="2" charset="0"/>
              </a:rPr>
              <a:t>*</a:t>
            </a:r>
          </a:p>
        </p:txBody>
      </p:sp>
      <p:sp>
        <p:nvSpPr>
          <p:cNvPr id="2" name="TextBox 1">
            <a:extLst>
              <a:ext uri="{FF2B5EF4-FFF2-40B4-BE49-F238E27FC236}">
                <a16:creationId xmlns:a16="http://schemas.microsoft.com/office/drawing/2014/main" id="{300E739D-1CAD-CEFE-5D13-8965911DA90B}"/>
              </a:ext>
            </a:extLst>
          </p:cNvPr>
          <p:cNvSpPr txBox="1"/>
          <p:nvPr/>
        </p:nvSpPr>
        <p:spPr>
          <a:xfrm>
            <a:off x="363255" y="1820501"/>
            <a:ext cx="2718148" cy="338554"/>
          </a:xfrm>
          <a:prstGeom prst="rect">
            <a:avLst/>
          </a:prstGeom>
          <a:noFill/>
        </p:spPr>
        <p:txBody>
          <a:bodyPr wrap="square">
            <a:spAutoFit/>
          </a:bodyPr>
          <a:lstStyle/>
          <a:p>
            <a:r>
              <a:rPr lang="en-US" sz="1600" spc="-220" dirty="0">
                <a:solidFill>
                  <a:srgbClr val="AA3A1C">
                    <a:alpha val="30000"/>
                  </a:srgbClr>
                </a:solidFill>
                <a:latin typeface="Hanken Grotesk SemiBold" pitchFamily="2" charset="0"/>
              </a:rPr>
              <a:t>SECURITY × ENGINEERING × DESIGN</a:t>
            </a:r>
          </a:p>
        </p:txBody>
      </p:sp>
      <p:pic>
        <p:nvPicPr>
          <p:cNvPr id="6" name="Picture 5">
            <a:extLst>
              <a:ext uri="{FF2B5EF4-FFF2-40B4-BE49-F238E27FC236}">
                <a16:creationId xmlns:a16="http://schemas.microsoft.com/office/drawing/2014/main" id="{CAC1F144-EC8C-2D69-122B-04CEA9533A32}"/>
              </a:ext>
            </a:extLst>
          </p:cNvPr>
          <p:cNvPicPr>
            <a:picLocks noChangeAspect="1"/>
          </p:cNvPicPr>
          <p:nvPr/>
        </p:nvPicPr>
        <p:blipFill>
          <a:blip r:embed="rId3"/>
          <a:stretch>
            <a:fillRect/>
          </a:stretch>
        </p:blipFill>
        <p:spPr>
          <a:xfrm>
            <a:off x="323711" y="2784958"/>
            <a:ext cx="3429000" cy="1746849"/>
          </a:xfrm>
          <a:prstGeom prst="rect">
            <a:avLst/>
          </a:prstGeom>
        </p:spPr>
      </p:pic>
      <p:pic>
        <p:nvPicPr>
          <p:cNvPr id="9" name="Picture 8">
            <a:extLst>
              <a:ext uri="{FF2B5EF4-FFF2-40B4-BE49-F238E27FC236}">
                <a16:creationId xmlns:a16="http://schemas.microsoft.com/office/drawing/2014/main" id="{6ADF8C0C-1C02-391D-8DD5-30B0A417507D}"/>
              </a:ext>
            </a:extLst>
          </p:cNvPr>
          <p:cNvPicPr>
            <a:picLocks noChangeAspect="1"/>
          </p:cNvPicPr>
          <p:nvPr/>
        </p:nvPicPr>
        <p:blipFill>
          <a:blip r:embed="rId4"/>
          <a:stretch>
            <a:fillRect/>
          </a:stretch>
        </p:blipFill>
        <p:spPr>
          <a:xfrm>
            <a:off x="3369501" y="4969108"/>
            <a:ext cx="3081403" cy="1647551"/>
          </a:xfrm>
          <a:prstGeom prst="rect">
            <a:avLst/>
          </a:prstGeom>
        </p:spPr>
      </p:pic>
      <p:pic>
        <p:nvPicPr>
          <p:cNvPr id="14" name="Picture 13">
            <a:extLst>
              <a:ext uri="{FF2B5EF4-FFF2-40B4-BE49-F238E27FC236}">
                <a16:creationId xmlns:a16="http://schemas.microsoft.com/office/drawing/2014/main" id="{AC41F0B9-4538-09A7-9F3D-DAE9ADAD8E7A}"/>
              </a:ext>
            </a:extLst>
          </p:cNvPr>
          <p:cNvPicPr>
            <a:picLocks noChangeAspect="1"/>
          </p:cNvPicPr>
          <p:nvPr/>
        </p:nvPicPr>
        <p:blipFill>
          <a:blip r:embed="rId5"/>
          <a:stretch>
            <a:fillRect/>
          </a:stretch>
        </p:blipFill>
        <p:spPr>
          <a:xfrm>
            <a:off x="288098" y="6662650"/>
            <a:ext cx="3081403" cy="1422849"/>
          </a:xfrm>
          <a:prstGeom prst="rect">
            <a:avLst/>
          </a:prstGeom>
        </p:spPr>
      </p:pic>
      <p:sp>
        <p:nvSpPr>
          <p:cNvPr id="16" name="TextBox 15">
            <a:extLst>
              <a:ext uri="{FF2B5EF4-FFF2-40B4-BE49-F238E27FC236}">
                <a16:creationId xmlns:a16="http://schemas.microsoft.com/office/drawing/2014/main" id="{F3BE2BF0-2A6C-D9AA-4A2B-8B448C467D08}"/>
              </a:ext>
            </a:extLst>
          </p:cNvPr>
          <p:cNvSpPr txBox="1"/>
          <p:nvPr/>
        </p:nvSpPr>
        <p:spPr>
          <a:xfrm>
            <a:off x="3827867" y="2813242"/>
            <a:ext cx="2706422" cy="1261884"/>
          </a:xfrm>
          <a:prstGeom prst="rect">
            <a:avLst/>
          </a:prstGeom>
          <a:noFill/>
        </p:spPr>
        <p:txBody>
          <a:bodyPr wrap="square" rtlCol="0">
            <a:spAutoFit/>
          </a:bodyPr>
          <a:lstStyle/>
          <a:p>
            <a:r>
              <a:rPr lang="en-US" sz="2800" b="1" spc="-300" dirty="0">
                <a:solidFill>
                  <a:srgbClr val="AA3A1C"/>
                </a:solidFill>
                <a:latin typeface="Hanken Grotesk SemiBold" pitchFamily="2" charset="0"/>
              </a:rPr>
              <a:t>FLARE</a:t>
            </a:r>
          </a:p>
          <a:p>
            <a:r>
              <a:rPr lang="en-US" sz="2400" b="1" spc="-300" dirty="0">
                <a:solidFill>
                  <a:srgbClr val="AA3A1C"/>
                </a:solidFill>
                <a:latin typeface="Hanken Grotesk SemiBold" pitchFamily="2" charset="0"/>
              </a:rPr>
              <a:t>a federated learning firewall architecture</a:t>
            </a:r>
          </a:p>
        </p:txBody>
      </p:sp>
      <p:sp>
        <p:nvSpPr>
          <p:cNvPr id="18" name="TextBox 17">
            <a:extLst>
              <a:ext uri="{FF2B5EF4-FFF2-40B4-BE49-F238E27FC236}">
                <a16:creationId xmlns:a16="http://schemas.microsoft.com/office/drawing/2014/main" id="{447D78BC-8CFF-AAD0-13B6-4E535A59222D}"/>
              </a:ext>
            </a:extLst>
          </p:cNvPr>
          <p:cNvSpPr txBox="1"/>
          <p:nvPr/>
        </p:nvSpPr>
        <p:spPr>
          <a:xfrm>
            <a:off x="407096" y="4809805"/>
            <a:ext cx="2706422" cy="1631216"/>
          </a:xfrm>
          <a:prstGeom prst="rect">
            <a:avLst/>
          </a:prstGeom>
          <a:noFill/>
        </p:spPr>
        <p:txBody>
          <a:bodyPr wrap="square" rtlCol="0">
            <a:spAutoFit/>
          </a:bodyPr>
          <a:lstStyle/>
          <a:p>
            <a:r>
              <a:rPr lang="en-US" sz="2800" b="1" spc="-300" dirty="0">
                <a:solidFill>
                  <a:srgbClr val="AA3A1C"/>
                </a:solidFill>
                <a:latin typeface="Hanken Grotesk SemiBold" pitchFamily="2" charset="0"/>
              </a:rPr>
              <a:t>SHADOW</a:t>
            </a:r>
          </a:p>
          <a:p>
            <a:r>
              <a:rPr lang="en-US" sz="2400" b="1" spc="-300" dirty="0">
                <a:solidFill>
                  <a:srgbClr val="AA3A1C"/>
                </a:solidFill>
                <a:latin typeface="Hanken Grotesk SemiBold" pitchFamily="2" charset="0"/>
              </a:rPr>
              <a:t>an ML-based dark web </a:t>
            </a:r>
            <a:r>
              <a:rPr lang="en-US" sz="2400" b="1" spc="-150" dirty="0">
                <a:solidFill>
                  <a:srgbClr val="AA3A1C"/>
                </a:solidFill>
                <a:latin typeface="Hanken Grotesk SemiBold" pitchFamily="2" charset="0"/>
              </a:rPr>
              <a:t>PII</a:t>
            </a:r>
            <a:r>
              <a:rPr lang="en-US" sz="2400" b="1" spc="-300" dirty="0">
                <a:solidFill>
                  <a:srgbClr val="AA3A1C"/>
                </a:solidFill>
                <a:latin typeface="Hanken Grotesk SemiBold" pitchFamily="2" charset="0"/>
              </a:rPr>
              <a:t>-leak detection system</a:t>
            </a:r>
          </a:p>
        </p:txBody>
      </p:sp>
      <p:sp>
        <p:nvSpPr>
          <p:cNvPr id="19" name="TextBox 18">
            <a:extLst>
              <a:ext uri="{FF2B5EF4-FFF2-40B4-BE49-F238E27FC236}">
                <a16:creationId xmlns:a16="http://schemas.microsoft.com/office/drawing/2014/main" id="{4ACA5503-A0A4-EC52-79D9-EA39ABF40D43}"/>
              </a:ext>
            </a:extLst>
          </p:cNvPr>
          <p:cNvSpPr txBox="1"/>
          <p:nvPr/>
        </p:nvSpPr>
        <p:spPr>
          <a:xfrm>
            <a:off x="3424885" y="6743132"/>
            <a:ext cx="2706422" cy="1384995"/>
          </a:xfrm>
          <a:prstGeom prst="rect">
            <a:avLst/>
          </a:prstGeom>
          <a:noFill/>
        </p:spPr>
        <p:txBody>
          <a:bodyPr wrap="square" rtlCol="0">
            <a:spAutoFit/>
          </a:bodyPr>
          <a:lstStyle/>
          <a:p>
            <a:r>
              <a:rPr lang="en-US" sz="2800" b="1" spc="-300" dirty="0">
                <a:solidFill>
                  <a:srgbClr val="AA3A1C"/>
                </a:solidFill>
                <a:latin typeface="Hanken Grotesk SemiBold" pitchFamily="2" charset="0"/>
              </a:rPr>
              <a:t>CYBRANA</a:t>
            </a:r>
          </a:p>
          <a:p>
            <a:r>
              <a:rPr lang="en-US" sz="2800" b="1" spc="-300" dirty="0">
                <a:solidFill>
                  <a:srgbClr val="AA3A1C"/>
                </a:solidFill>
                <a:latin typeface="Hanken Grotesk SemiBold" pitchFamily="2" charset="0"/>
              </a:rPr>
              <a:t>a machine-learning based firewall</a:t>
            </a:r>
            <a:endParaRPr lang="en-US" sz="2400" b="1" spc="-300" dirty="0">
              <a:solidFill>
                <a:srgbClr val="AA3A1C"/>
              </a:solidFill>
              <a:latin typeface="Hanken Grotesk SemiBold" pitchFamily="2" charset="0"/>
            </a:endParaRPr>
          </a:p>
        </p:txBody>
      </p:sp>
    </p:spTree>
    <p:extLst>
      <p:ext uri="{BB962C8B-B14F-4D97-AF65-F5344CB8AC3E}">
        <p14:creationId xmlns:p14="http://schemas.microsoft.com/office/powerpoint/2010/main" val="2154096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4E75-0AEE-AB01-7F6F-54B690078ED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C3038E-F882-3438-A283-30D2710FAD36}"/>
              </a:ext>
            </a:extLst>
          </p:cNvPr>
          <p:cNvSpPr txBox="1"/>
          <p:nvPr/>
        </p:nvSpPr>
        <p:spPr>
          <a:xfrm>
            <a:off x="1831779" y="916767"/>
            <a:ext cx="4447051" cy="2123658"/>
          </a:xfrm>
          <a:prstGeom prst="rect">
            <a:avLst/>
          </a:prstGeom>
          <a:noFill/>
        </p:spPr>
        <p:txBody>
          <a:bodyPr wrap="none" rtlCol="0">
            <a:spAutoFit/>
          </a:bodyPr>
          <a:lstStyle/>
          <a:p>
            <a:pPr algn="r"/>
            <a:r>
              <a:rPr lang="en-US" sz="6600" b="1" spc="-500" dirty="0">
                <a:solidFill>
                  <a:srgbClr val="AA3A1C"/>
                </a:solidFill>
                <a:latin typeface="Hanken Grotesk SemiBold" pitchFamily="2" charset="0"/>
              </a:rPr>
              <a:t>WORK</a:t>
            </a:r>
          </a:p>
          <a:p>
            <a:pPr algn="r"/>
            <a:r>
              <a:rPr lang="en-US" sz="6600" b="1" spc="-500" dirty="0">
                <a:solidFill>
                  <a:srgbClr val="AA3A1C"/>
                </a:solidFill>
                <a:latin typeface="Hanken Grotesk SemiBold" pitchFamily="2" charset="0"/>
              </a:rPr>
              <a:t>EXPERIENCE</a:t>
            </a:r>
          </a:p>
        </p:txBody>
      </p:sp>
      <p:sp>
        <p:nvSpPr>
          <p:cNvPr id="2" name="TextBox 1">
            <a:extLst>
              <a:ext uri="{FF2B5EF4-FFF2-40B4-BE49-F238E27FC236}">
                <a16:creationId xmlns:a16="http://schemas.microsoft.com/office/drawing/2014/main" id="{4545AFD8-3D88-B913-D3D9-032F64B4D41B}"/>
              </a:ext>
            </a:extLst>
          </p:cNvPr>
          <p:cNvSpPr txBox="1"/>
          <p:nvPr/>
        </p:nvSpPr>
        <p:spPr>
          <a:xfrm>
            <a:off x="5103508" y="8109850"/>
            <a:ext cx="1175322"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(5)</a:t>
            </a:r>
          </a:p>
        </p:txBody>
      </p:sp>
    </p:spTree>
    <p:extLst>
      <p:ext uri="{BB962C8B-B14F-4D97-AF65-F5344CB8AC3E}">
        <p14:creationId xmlns:p14="http://schemas.microsoft.com/office/powerpoint/2010/main" val="2563254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8286E-0662-A7F6-5DDC-5EBB6996A92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5FE9037-3509-B11D-8788-87809F2BF7B6}"/>
              </a:ext>
            </a:extLst>
          </p:cNvPr>
          <p:cNvSpPr/>
          <p:nvPr/>
        </p:nvSpPr>
        <p:spPr>
          <a:xfrm>
            <a:off x="538618" y="894568"/>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943BD2F-CBC9-1EA6-3F5C-3E840479C0B5}"/>
              </a:ext>
            </a:extLst>
          </p:cNvPr>
          <p:cNvSpPr/>
          <p:nvPr/>
        </p:nvSpPr>
        <p:spPr>
          <a:xfrm>
            <a:off x="3429001" y="894568"/>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FA22FAF-ECE3-6CC8-588F-7BBA7ABDF024}"/>
              </a:ext>
            </a:extLst>
          </p:cNvPr>
          <p:cNvSpPr/>
          <p:nvPr/>
        </p:nvSpPr>
        <p:spPr>
          <a:xfrm>
            <a:off x="538618" y="1909176"/>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B18DFE1-41F5-7A8F-1A5C-15DA97A50D5E}"/>
              </a:ext>
            </a:extLst>
          </p:cNvPr>
          <p:cNvSpPr/>
          <p:nvPr/>
        </p:nvSpPr>
        <p:spPr>
          <a:xfrm>
            <a:off x="3429001" y="1909176"/>
            <a:ext cx="2890382" cy="1014608"/>
          </a:xfrm>
          <a:prstGeom prst="rect">
            <a:avLst/>
          </a:prstGeom>
          <a:solidFill>
            <a:srgbClr val="D9D9D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b="1" spc="-300" dirty="0">
                <a:solidFill>
                  <a:schemeClr val="tx1"/>
                </a:solidFill>
                <a:latin typeface="Hanken Grotesk SemiBold" pitchFamily="2" charset="0"/>
              </a:rPr>
              <a:t>ai research and engineering</a:t>
            </a:r>
          </a:p>
        </p:txBody>
      </p:sp>
      <p:sp>
        <p:nvSpPr>
          <p:cNvPr id="8" name="Rectangle 7">
            <a:extLst>
              <a:ext uri="{FF2B5EF4-FFF2-40B4-BE49-F238E27FC236}">
                <a16:creationId xmlns:a16="http://schemas.microsoft.com/office/drawing/2014/main" id="{F2135488-8857-6F04-1E53-45A63336B56F}"/>
              </a:ext>
            </a:extLst>
          </p:cNvPr>
          <p:cNvSpPr/>
          <p:nvPr/>
        </p:nvSpPr>
        <p:spPr>
          <a:xfrm>
            <a:off x="538617" y="2923784"/>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A50DB23-8AEE-987E-7D7A-8E8028D982E8}"/>
              </a:ext>
            </a:extLst>
          </p:cNvPr>
          <p:cNvSpPr/>
          <p:nvPr/>
        </p:nvSpPr>
        <p:spPr>
          <a:xfrm>
            <a:off x="3429000" y="2923784"/>
            <a:ext cx="2890382" cy="1014608"/>
          </a:xfrm>
          <a:prstGeom prst="rect">
            <a:avLst/>
          </a:prstGeom>
          <a:solidFill>
            <a:srgbClr val="D9D9D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spc="-300" dirty="0">
                <a:solidFill>
                  <a:schemeClr val="tx1"/>
                </a:solidFill>
                <a:latin typeface="Hanken Grotesk SemiBold" pitchFamily="2" charset="0"/>
              </a:rPr>
              <a:t>security software, startup research</a:t>
            </a:r>
          </a:p>
        </p:txBody>
      </p:sp>
      <p:sp>
        <p:nvSpPr>
          <p:cNvPr id="10" name="Rectangle 9">
            <a:extLst>
              <a:ext uri="{FF2B5EF4-FFF2-40B4-BE49-F238E27FC236}">
                <a16:creationId xmlns:a16="http://schemas.microsoft.com/office/drawing/2014/main" id="{4FFD5BEE-F27A-2CD6-6185-E9CB2B709681}"/>
              </a:ext>
            </a:extLst>
          </p:cNvPr>
          <p:cNvSpPr/>
          <p:nvPr/>
        </p:nvSpPr>
        <p:spPr>
          <a:xfrm>
            <a:off x="538617" y="3938392"/>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06A5E0D-B4A5-F487-85A8-A27E7FDBF6AE}"/>
              </a:ext>
            </a:extLst>
          </p:cNvPr>
          <p:cNvSpPr/>
          <p:nvPr/>
        </p:nvSpPr>
        <p:spPr>
          <a:xfrm>
            <a:off x="3429000" y="3938392"/>
            <a:ext cx="2890382" cy="1014608"/>
          </a:xfrm>
          <a:prstGeom prst="rect">
            <a:avLst/>
          </a:prstGeom>
          <a:solidFill>
            <a:srgbClr val="D9D9D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spc="-300" dirty="0">
                <a:solidFill>
                  <a:schemeClr val="tx1"/>
                </a:solidFill>
                <a:latin typeface="Hanken Grotesk SemiBold" pitchFamily="2" charset="0"/>
              </a:rPr>
              <a:t>security research and engineering</a:t>
            </a:r>
          </a:p>
        </p:txBody>
      </p:sp>
      <p:sp>
        <p:nvSpPr>
          <p:cNvPr id="12" name="Rectangle 11">
            <a:extLst>
              <a:ext uri="{FF2B5EF4-FFF2-40B4-BE49-F238E27FC236}">
                <a16:creationId xmlns:a16="http://schemas.microsoft.com/office/drawing/2014/main" id="{C2DFF5A3-7625-B2BE-C2A4-18DCE4DCEC18}"/>
              </a:ext>
            </a:extLst>
          </p:cNvPr>
          <p:cNvSpPr/>
          <p:nvPr/>
        </p:nvSpPr>
        <p:spPr>
          <a:xfrm>
            <a:off x="538617" y="4953000"/>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378E960-02A7-D4C2-171B-A137413272FB}"/>
              </a:ext>
            </a:extLst>
          </p:cNvPr>
          <p:cNvSpPr/>
          <p:nvPr/>
        </p:nvSpPr>
        <p:spPr>
          <a:xfrm>
            <a:off x="3429000" y="4953000"/>
            <a:ext cx="2890382" cy="1014608"/>
          </a:xfrm>
          <a:prstGeom prst="rect">
            <a:avLst/>
          </a:prstGeom>
          <a:solidFill>
            <a:srgbClr val="D9D9D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spc="-300" dirty="0">
                <a:solidFill>
                  <a:schemeClr val="tx1"/>
                </a:solidFill>
                <a:latin typeface="Hanken Grotesk SemiBold" pitchFamily="2" charset="0"/>
              </a:rPr>
              <a:t>security software engineering</a:t>
            </a:r>
          </a:p>
        </p:txBody>
      </p:sp>
      <p:sp>
        <p:nvSpPr>
          <p:cNvPr id="14" name="Rectangle 13">
            <a:extLst>
              <a:ext uri="{FF2B5EF4-FFF2-40B4-BE49-F238E27FC236}">
                <a16:creationId xmlns:a16="http://schemas.microsoft.com/office/drawing/2014/main" id="{F4D20DB7-A375-F8D3-32E7-696A959DBF4E}"/>
              </a:ext>
            </a:extLst>
          </p:cNvPr>
          <p:cNvSpPr/>
          <p:nvPr/>
        </p:nvSpPr>
        <p:spPr>
          <a:xfrm>
            <a:off x="538617" y="5967608"/>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E8066ED-247C-7E90-3FBF-B128E23F8637}"/>
              </a:ext>
            </a:extLst>
          </p:cNvPr>
          <p:cNvSpPr/>
          <p:nvPr/>
        </p:nvSpPr>
        <p:spPr>
          <a:xfrm>
            <a:off x="3429000" y="5967608"/>
            <a:ext cx="2890382" cy="1014608"/>
          </a:xfrm>
          <a:prstGeom prst="rect">
            <a:avLst/>
          </a:prstGeom>
          <a:solidFill>
            <a:srgbClr val="D9D9D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spc="-300" dirty="0">
                <a:solidFill>
                  <a:schemeClr val="tx1"/>
                </a:solidFill>
                <a:latin typeface="Hanken Grotesk SemiBold" pitchFamily="2" charset="0"/>
              </a:rPr>
              <a:t>learning infotech and software engineering</a:t>
            </a:r>
          </a:p>
        </p:txBody>
      </p:sp>
      <p:sp>
        <p:nvSpPr>
          <p:cNvPr id="16" name="Rectangle 15">
            <a:extLst>
              <a:ext uri="{FF2B5EF4-FFF2-40B4-BE49-F238E27FC236}">
                <a16:creationId xmlns:a16="http://schemas.microsoft.com/office/drawing/2014/main" id="{C3F6A275-6E59-B5A9-AAE0-A4016CD7B5E0}"/>
              </a:ext>
            </a:extLst>
          </p:cNvPr>
          <p:cNvSpPr/>
          <p:nvPr/>
        </p:nvSpPr>
        <p:spPr>
          <a:xfrm>
            <a:off x="538616" y="6982216"/>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ABC2277-FC5D-5E4C-0DF8-E08FACF49B77}"/>
              </a:ext>
            </a:extLst>
          </p:cNvPr>
          <p:cNvSpPr/>
          <p:nvPr/>
        </p:nvSpPr>
        <p:spPr>
          <a:xfrm>
            <a:off x="3428999" y="6982216"/>
            <a:ext cx="2890382" cy="1014608"/>
          </a:xfrm>
          <a:prstGeom prst="rect">
            <a:avLst/>
          </a:prstGeom>
          <a:solidFill>
            <a:srgbClr val="D9D9D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spc="-300">
                <a:solidFill>
                  <a:schemeClr val="tx1"/>
                </a:solidFill>
                <a:latin typeface="Hanken Grotesk SemiBold" pitchFamily="2" charset="0"/>
              </a:rPr>
              <a:t>dark web research, cybersecurity</a:t>
            </a:r>
            <a:endParaRPr lang="en-US" sz="2800" spc="-300" dirty="0">
              <a:solidFill>
                <a:schemeClr val="tx1"/>
              </a:solidFill>
              <a:latin typeface="Hanken Grotesk SemiBold" pitchFamily="2" charset="0"/>
            </a:endParaRPr>
          </a:p>
        </p:txBody>
      </p:sp>
      <p:sp>
        <p:nvSpPr>
          <p:cNvPr id="18" name="Rectangle 17">
            <a:extLst>
              <a:ext uri="{FF2B5EF4-FFF2-40B4-BE49-F238E27FC236}">
                <a16:creationId xmlns:a16="http://schemas.microsoft.com/office/drawing/2014/main" id="{B6ECFB0A-E848-6EFB-8477-F0CF56E39882}"/>
              </a:ext>
            </a:extLst>
          </p:cNvPr>
          <p:cNvSpPr/>
          <p:nvPr/>
        </p:nvSpPr>
        <p:spPr>
          <a:xfrm>
            <a:off x="538616" y="7996824"/>
            <a:ext cx="2890382" cy="101460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026A4A-99D6-1962-E3A5-49FCE4336746}"/>
              </a:ext>
            </a:extLst>
          </p:cNvPr>
          <p:cNvSpPr/>
          <p:nvPr/>
        </p:nvSpPr>
        <p:spPr>
          <a:xfrm>
            <a:off x="3428999" y="7996824"/>
            <a:ext cx="2890382" cy="1014608"/>
          </a:xfrm>
          <a:prstGeom prst="rect">
            <a:avLst/>
          </a:prstGeom>
          <a:solidFill>
            <a:srgbClr val="D9D9D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spc="-300" dirty="0">
                <a:solidFill>
                  <a:schemeClr val="tx1"/>
                </a:solidFill>
                <a:latin typeface="Hanken Grotesk SemiBold" pitchFamily="2" charset="0"/>
              </a:rPr>
              <a:t>penetration testing</a:t>
            </a:r>
          </a:p>
        </p:txBody>
      </p:sp>
      <p:sp>
        <p:nvSpPr>
          <p:cNvPr id="20" name="TextBox 19">
            <a:extLst>
              <a:ext uri="{FF2B5EF4-FFF2-40B4-BE49-F238E27FC236}">
                <a16:creationId xmlns:a16="http://schemas.microsoft.com/office/drawing/2014/main" id="{98A8C178-BE62-7323-DAC1-BF5F68E57D34}"/>
              </a:ext>
            </a:extLst>
          </p:cNvPr>
          <p:cNvSpPr txBox="1"/>
          <p:nvPr/>
        </p:nvSpPr>
        <p:spPr>
          <a:xfrm>
            <a:off x="538616" y="1017152"/>
            <a:ext cx="2890382" cy="769441"/>
          </a:xfrm>
          <a:prstGeom prst="rect">
            <a:avLst/>
          </a:prstGeom>
          <a:noFill/>
        </p:spPr>
        <p:txBody>
          <a:bodyPr wrap="square" rtlCol="0">
            <a:spAutoFit/>
          </a:bodyPr>
          <a:lstStyle/>
          <a:p>
            <a:r>
              <a:rPr lang="en-US" sz="4400" b="1" spc="-300" dirty="0">
                <a:solidFill>
                  <a:srgbClr val="AA3A1C"/>
                </a:solidFill>
                <a:latin typeface="Hanken Grotesk SemiBold" pitchFamily="2" charset="0"/>
              </a:rPr>
              <a:t>ORG</a:t>
            </a:r>
          </a:p>
        </p:txBody>
      </p:sp>
      <p:sp>
        <p:nvSpPr>
          <p:cNvPr id="21" name="TextBox 20">
            <a:extLst>
              <a:ext uri="{FF2B5EF4-FFF2-40B4-BE49-F238E27FC236}">
                <a16:creationId xmlns:a16="http://schemas.microsoft.com/office/drawing/2014/main" id="{8F26332C-C956-5F66-38A8-D3BAEDCD3E40}"/>
              </a:ext>
            </a:extLst>
          </p:cNvPr>
          <p:cNvSpPr txBox="1"/>
          <p:nvPr/>
        </p:nvSpPr>
        <p:spPr>
          <a:xfrm>
            <a:off x="3428999" y="1017151"/>
            <a:ext cx="2890382" cy="769441"/>
          </a:xfrm>
          <a:prstGeom prst="rect">
            <a:avLst/>
          </a:prstGeom>
          <a:noFill/>
        </p:spPr>
        <p:txBody>
          <a:bodyPr wrap="square" rtlCol="0">
            <a:spAutoFit/>
          </a:bodyPr>
          <a:lstStyle/>
          <a:p>
            <a:pPr algn="r"/>
            <a:r>
              <a:rPr lang="en-US" sz="4400" b="1" spc="-300" dirty="0">
                <a:solidFill>
                  <a:srgbClr val="AA3A1C"/>
                </a:solidFill>
                <a:latin typeface="Hanken Grotesk SemiBold" pitchFamily="2" charset="0"/>
              </a:rPr>
              <a:t>ROLE</a:t>
            </a:r>
          </a:p>
        </p:txBody>
      </p:sp>
      <p:pic>
        <p:nvPicPr>
          <p:cNvPr id="24" name="Picture 23">
            <a:extLst>
              <a:ext uri="{FF2B5EF4-FFF2-40B4-BE49-F238E27FC236}">
                <a16:creationId xmlns:a16="http://schemas.microsoft.com/office/drawing/2014/main" id="{0396EA01-F77E-420E-97EC-BD00CDFA5285}"/>
              </a:ext>
            </a:extLst>
          </p:cNvPr>
          <p:cNvPicPr>
            <a:picLocks noChangeAspect="1"/>
          </p:cNvPicPr>
          <p:nvPr/>
        </p:nvPicPr>
        <p:blipFill>
          <a:blip r:embed="rId2"/>
          <a:stretch>
            <a:fillRect/>
          </a:stretch>
        </p:blipFill>
        <p:spPr>
          <a:xfrm>
            <a:off x="1501081" y="6020514"/>
            <a:ext cx="965452" cy="905527"/>
          </a:xfrm>
          <a:prstGeom prst="rect">
            <a:avLst/>
          </a:prstGeom>
        </p:spPr>
      </p:pic>
      <p:pic>
        <p:nvPicPr>
          <p:cNvPr id="25" name="Picture 24">
            <a:extLst>
              <a:ext uri="{FF2B5EF4-FFF2-40B4-BE49-F238E27FC236}">
                <a16:creationId xmlns:a16="http://schemas.microsoft.com/office/drawing/2014/main" id="{96BB45FA-1923-A82B-C4C3-55E17A50A494}"/>
              </a:ext>
            </a:extLst>
          </p:cNvPr>
          <p:cNvPicPr>
            <a:picLocks noChangeAspect="1"/>
          </p:cNvPicPr>
          <p:nvPr/>
        </p:nvPicPr>
        <p:blipFill>
          <a:blip r:embed="rId3"/>
          <a:stretch>
            <a:fillRect/>
          </a:stretch>
        </p:blipFill>
        <p:spPr>
          <a:xfrm>
            <a:off x="1548591" y="7187445"/>
            <a:ext cx="870432" cy="686796"/>
          </a:xfrm>
          <a:prstGeom prst="rect">
            <a:avLst/>
          </a:prstGeom>
        </p:spPr>
      </p:pic>
      <p:pic>
        <p:nvPicPr>
          <p:cNvPr id="26" name="Picture 2">
            <a:extLst>
              <a:ext uri="{FF2B5EF4-FFF2-40B4-BE49-F238E27FC236}">
                <a16:creationId xmlns:a16="http://schemas.microsoft.com/office/drawing/2014/main" id="{BA8D4F05-1A7D-CC60-ABD7-5731C0EFBC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6628" y="3222482"/>
            <a:ext cx="1514358" cy="373586"/>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7F202796-1928-DB64-4798-05825CB81D2E}"/>
              </a:ext>
            </a:extLst>
          </p:cNvPr>
          <p:cNvPicPr>
            <a:picLocks noChangeAspect="1"/>
          </p:cNvPicPr>
          <p:nvPr/>
        </p:nvPicPr>
        <p:blipFill>
          <a:blip r:embed="rId5"/>
          <a:stretch>
            <a:fillRect/>
          </a:stretch>
        </p:blipFill>
        <p:spPr>
          <a:xfrm>
            <a:off x="1446414" y="8052999"/>
            <a:ext cx="1074786" cy="924316"/>
          </a:xfrm>
          <a:prstGeom prst="rect">
            <a:avLst/>
          </a:prstGeom>
        </p:spPr>
      </p:pic>
      <p:pic>
        <p:nvPicPr>
          <p:cNvPr id="28" name="Picture 27">
            <a:extLst>
              <a:ext uri="{FF2B5EF4-FFF2-40B4-BE49-F238E27FC236}">
                <a16:creationId xmlns:a16="http://schemas.microsoft.com/office/drawing/2014/main" id="{127B1459-C4AF-9C08-584F-7D0441EA0C10}"/>
              </a:ext>
            </a:extLst>
          </p:cNvPr>
          <p:cNvPicPr>
            <a:picLocks noChangeAspect="1"/>
          </p:cNvPicPr>
          <p:nvPr/>
        </p:nvPicPr>
        <p:blipFill>
          <a:blip r:embed="rId6"/>
          <a:stretch>
            <a:fillRect/>
          </a:stretch>
        </p:blipFill>
        <p:spPr>
          <a:xfrm>
            <a:off x="930723" y="5211344"/>
            <a:ext cx="2106167" cy="545037"/>
          </a:xfrm>
          <a:prstGeom prst="rect">
            <a:avLst/>
          </a:prstGeom>
        </p:spPr>
      </p:pic>
      <p:pic>
        <p:nvPicPr>
          <p:cNvPr id="30" name="Picture 29">
            <a:extLst>
              <a:ext uri="{FF2B5EF4-FFF2-40B4-BE49-F238E27FC236}">
                <a16:creationId xmlns:a16="http://schemas.microsoft.com/office/drawing/2014/main" id="{D2166B21-B4A8-591B-A2A7-E849E1490464}"/>
              </a:ext>
            </a:extLst>
          </p:cNvPr>
          <p:cNvPicPr>
            <a:picLocks noChangeAspect="1"/>
          </p:cNvPicPr>
          <p:nvPr/>
        </p:nvPicPr>
        <p:blipFill>
          <a:blip r:embed="rId7"/>
          <a:stretch>
            <a:fillRect/>
          </a:stretch>
        </p:blipFill>
        <p:spPr>
          <a:xfrm>
            <a:off x="636574" y="4160511"/>
            <a:ext cx="2694464" cy="528326"/>
          </a:xfrm>
          <a:prstGeom prst="rect">
            <a:avLst/>
          </a:prstGeom>
        </p:spPr>
      </p:pic>
      <p:pic>
        <p:nvPicPr>
          <p:cNvPr id="31" name="Picture 30">
            <a:extLst>
              <a:ext uri="{FF2B5EF4-FFF2-40B4-BE49-F238E27FC236}">
                <a16:creationId xmlns:a16="http://schemas.microsoft.com/office/drawing/2014/main" id="{CA85872B-120F-BD0A-DE54-2E0F43F8E295}"/>
              </a:ext>
            </a:extLst>
          </p:cNvPr>
          <p:cNvPicPr>
            <a:picLocks noChangeAspect="1"/>
          </p:cNvPicPr>
          <p:nvPr/>
        </p:nvPicPr>
        <p:blipFill>
          <a:blip r:embed="rId8"/>
          <a:stretch>
            <a:fillRect/>
          </a:stretch>
        </p:blipFill>
        <p:spPr>
          <a:xfrm>
            <a:off x="1376179" y="2141672"/>
            <a:ext cx="1215253" cy="471860"/>
          </a:xfrm>
          <a:prstGeom prst="rect">
            <a:avLst/>
          </a:prstGeom>
        </p:spPr>
      </p:pic>
    </p:spTree>
    <p:extLst>
      <p:ext uri="{BB962C8B-B14F-4D97-AF65-F5344CB8AC3E}">
        <p14:creationId xmlns:p14="http://schemas.microsoft.com/office/powerpoint/2010/main" val="4215070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64498-1F33-AEE0-9D2E-4ACC53D72E7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8D0A280-8E7B-3C0B-FE0C-FFB295C7DB80}"/>
              </a:ext>
            </a:extLst>
          </p:cNvPr>
          <p:cNvSpPr txBox="1"/>
          <p:nvPr/>
        </p:nvSpPr>
        <p:spPr>
          <a:xfrm>
            <a:off x="2375134" y="3891171"/>
            <a:ext cx="3903696" cy="2123658"/>
          </a:xfrm>
          <a:prstGeom prst="rect">
            <a:avLst/>
          </a:prstGeom>
          <a:noFill/>
        </p:spPr>
        <p:txBody>
          <a:bodyPr wrap="none" rtlCol="0">
            <a:spAutoFit/>
          </a:bodyPr>
          <a:lstStyle/>
          <a:p>
            <a:pPr algn="r"/>
            <a:r>
              <a:rPr lang="en-US" sz="6600" b="1" spc="-500" dirty="0">
                <a:solidFill>
                  <a:srgbClr val="AA3A1C"/>
                </a:solidFill>
                <a:latin typeface="Hanken Grotesk SemiBold" pitchFamily="2" charset="0"/>
              </a:rPr>
              <a:t>RESEARCH</a:t>
            </a:r>
          </a:p>
          <a:p>
            <a:pPr algn="r"/>
            <a:r>
              <a:rPr lang="en-US" sz="6600" b="1" spc="-500" dirty="0">
                <a:solidFill>
                  <a:srgbClr val="AA3A1C"/>
                </a:solidFill>
                <a:latin typeface="Hanken Grotesk SemiBold" pitchFamily="2" charset="0"/>
              </a:rPr>
              <a:t>PAPERS</a:t>
            </a:r>
          </a:p>
        </p:txBody>
      </p:sp>
      <p:sp>
        <p:nvSpPr>
          <p:cNvPr id="2" name="TextBox 1">
            <a:extLst>
              <a:ext uri="{FF2B5EF4-FFF2-40B4-BE49-F238E27FC236}">
                <a16:creationId xmlns:a16="http://schemas.microsoft.com/office/drawing/2014/main" id="{B09732AF-9B10-5933-7706-95B7B9988DE4}"/>
              </a:ext>
            </a:extLst>
          </p:cNvPr>
          <p:cNvSpPr txBox="1"/>
          <p:nvPr/>
        </p:nvSpPr>
        <p:spPr>
          <a:xfrm>
            <a:off x="5103508" y="8109850"/>
            <a:ext cx="1175322"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(6)</a:t>
            </a:r>
          </a:p>
        </p:txBody>
      </p:sp>
    </p:spTree>
    <p:extLst>
      <p:ext uri="{BB962C8B-B14F-4D97-AF65-F5344CB8AC3E}">
        <p14:creationId xmlns:p14="http://schemas.microsoft.com/office/powerpoint/2010/main" val="1766709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71D3B-DFE4-2508-0E20-3BC3CA86D89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531774C-2BDF-C499-B272-8FA3F0CF438C}"/>
              </a:ext>
            </a:extLst>
          </p:cNvPr>
          <p:cNvSpPr txBox="1"/>
          <p:nvPr/>
        </p:nvSpPr>
        <p:spPr>
          <a:xfrm>
            <a:off x="389793" y="3070071"/>
            <a:ext cx="6078414" cy="2893100"/>
          </a:xfrm>
          <a:prstGeom prst="rect">
            <a:avLst/>
          </a:prstGeom>
          <a:noFill/>
        </p:spPr>
        <p:txBody>
          <a:bodyPr wrap="square" rtlCol="0">
            <a:spAutoFit/>
          </a:bodyPr>
          <a:lstStyle/>
          <a:p>
            <a:r>
              <a:rPr lang="en-US" sz="1400" i="1" dirty="0">
                <a:latin typeface="Baskerville Old Face" panose="02020602080505020303" pitchFamily="18" charset="0"/>
                <a:cs typeface="Times New Roman" panose="02020603050405020304" pitchFamily="18" charset="0"/>
              </a:rPr>
              <a:t>Abstract</a:t>
            </a:r>
            <a:r>
              <a:rPr lang="en-US" sz="1400" dirty="0">
                <a:latin typeface="Baskerville Old Face" panose="02020602080505020303" pitchFamily="18" charset="0"/>
                <a:cs typeface="Times New Roman" panose="02020603050405020304" pitchFamily="18" charset="0"/>
              </a:rPr>
              <a:t>—</a:t>
            </a:r>
            <a:r>
              <a:rPr lang="en-US" sz="1400" dirty="0">
                <a:latin typeface="Baskerville Old Face" panose="02020602080505020303" pitchFamily="18" charset="0"/>
              </a:rPr>
              <a:t>Large Language Models (LLMs) are powerful in part due to the wide array of prompts they can successfully handle. While many efforts have been made to improve MCP security, a prompt’s context is an essential (and missing) aspect of MCP security. This work demonstrates that it is not only necessary to consider prompt- context, but it is also possible to do so in a secure and automated manner. Our architecture shows that an LLM can be an effective tool at devising a compartmentalized, prompt-specific, least-privilege decomposition for various complex prompts. We demonstrate that this technique provides best-effort, least-privilege security which reduces the unnecessary MCP server tools available to an LLM. It does this while handling prompts an unprotected LLM could handle. This happens without substantially increasing the LLM costs. Furthermore, our design is backwards compatible with existing MCP servers / tools, LLMs, and frameworks. Our prototype, </a:t>
            </a:r>
            <a:r>
              <a:rPr lang="en-US" sz="1400" dirty="0" err="1">
                <a:latin typeface="Baskerville Old Face" panose="02020602080505020303" pitchFamily="18" charset="0"/>
              </a:rPr>
              <a:t>ShardGuard</a:t>
            </a:r>
            <a:r>
              <a:rPr lang="en-US" sz="1400" dirty="0">
                <a:latin typeface="Baskerville Old Face" panose="02020602080505020303" pitchFamily="18" charset="0"/>
              </a:rPr>
              <a:t>, is freely available with an Apache 2.0 license.</a:t>
            </a:r>
            <a:endParaRPr lang="en-US" sz="1400" dirty="0">
              <a:latin typeface="Baskerville Old Face" panose="02020602080505020303"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D9D5744F-3477-BACF-7EB6-054687D8AB5F}"/>
              </a:ext>
            </a:extLst>
          </p:cNvPr>
          <p:cNvSpPr txBox="1"/>
          <p:nvPr/>
        </p:nvSpPr>
        <p:spPr>
          <a:xfrm>
            <a:off x="389793" y="931832"/>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Prompt-Aware MCP Security: Using </a:t>
            </a:r>
            <a:r>
              <a:rPr lang="en-US" sz="2800" b="1" spc="-300" dirty="0" err="1">
                <a:solidFill>
                  <a:srgbClr val="AA3A1C"/>
                </a:solidFill>
                <a:latin typeface="Hanken Grotesk SemiBold" pitchFamily="2" charset="0"/>
              </a:rPr>
              <a:t>ShardGuard</a:t>
            </a:r>
            <a:r>
              <a:rPr lang="en-US" sz="2800" b="1" spc="-300" dirty="0">
                <a:solidFill>
                  <a:srgbClr val="AA3A1C"/>
                </a:solidFill>
                <a:latin typeface="Hanken Grotesk SemiBold" pitchFamily="2" charset="0"/>
              </a:rPr>
              <a:t> To Compartmentalize LLMs for Safer MCP Actions</a:t>
            </a:r>
          </a:p>
        </p:txBody>
      </p:sp>
      <p:sp>
        <p:nvSpPr>
          <p:cNvPr id="2" name="TextBox 1">
            <a:extLst>
              <a:ext uri="{FF2B5EF4-FFF2-40B4-BE49-F238E27FC236}">
                <a16:creationId xmlns:a16="http://schemas.microsoft.com/office/drawing/2014/main" id="{B4AAE8B6-BFB9-BCE4-80CE-D99A23D33F62}"/>
              </a:ext>
            </a:extLst>
          </p:cNvPr>
          <p:cNvSpPr txBox="1"/>
          <p:nvPr/>
        </p:nvSpPr>
        <p:spPr>
          <a:xfrm>
            <a:off x="751562" y="6394058"/>
            <a:ext cx="5716645" cy="1015663"/>
          </a:xfrm>
          <a:prstGeom prst="rect">
            <a:avLst/>
          </a:prstGeom>
          <a:noFill/>
        </p:spPr>
        <p:txBody>
          <a:bodyPr wrap="square" rtlCol="0">
            <a:spAutoFit/>
          </a:bodyPr>
          <a:lstStyle/>
          <a:p>
            <a:pPr algn="r"/>
            <a:r>
              <a:rPr lang="en-US" sz="2000" b="1" spc="-150" dirty="0">
                <a:solidFill>
                  <a:srgbClr val="AA3A1C"/>
                </a:solidFill>
                <a:latin typeface="Hanken Grotesk SemiBold" pitchFamily="2" charset="0"/>
              </a:rPr>
              <a:t>// with a team under Professor Justin Cappos at the Secure Systems Laboratory (SSL) at New York University's Tandon School of Engineering</a:t>
            </a:r>
          </a:p>
        </p:txBody>
      </p:sp>
    </p:spTree>
    <p:extLst>
      <p:ext uri="{BB962C8B-B14F-4D97-AF65-F5344CB8AC3E}">
        <p14:creationId xmlns:p14="http://schemas.microsoft.com/office/powerpoint/2010/main" val="33649621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19C89-159E-D11B-C29B-ACBCCCAE623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0B975C6-FA9B-BD0A-AEC5-5F4C80F19628}"/>
              </a:ext>
            </a:extLst>
          </p:cNvPr>
          <p:cNvSpPr txBox="1"/>
          <p:nvPr/>
        </p:nvSpPr>
        <p:spPr>
          <a:xfrm>
            <a:off x="389793" y="748283"/>
            <a:ext cx="6078414" cy="1815882"/>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Enhancing Cybersecurity Resilience with CYBRANA: A Cyber YARA/YAML-Based Resilience Firewall Solution Applied with Next-Gen AI</a:t>
            </a:r>
          </a:p>
        </p:txBody>
      </p:sp>
      <p:sp>
        <p:nvSpPr>
          <p:cNvPr id="6" name="TextBox 5">
            <a:extLst>
              <a:ext uri="{FF2B5EF4-FFF2-40B4-BE49-F238E27FC236}">
                <a16:creationId xmlns:a16="http://schemas.microsoft.com/office/drawing/2014/main" id="{2176C7B1-2879-81F5-1CE1-53C8968B4704}"/>
              </a:ext>
            </a:extLst>
          </p:cNvPr>
          <p:cNvSpPr txBox="1"/>
          <p:nvPr/>
        </p:nvSpPr>
        <p:spPr>
          <a:xfrm>
            <a:off x="389793" y="3070071"/>
            <a:ext cx="6078414" cy="3108543"/>
          </a:xfrm>
          <a:prstGeom prst="rect">
            <a:avLst/>
          </a:prstGeom>
          <a:noFill/>
        </p:spPr>
        <p:txBody>
          <a:bodyPr wrap="square" rtlCol="0">
            <a:spAutoFit/>
          </a:bodyPr>
          <a:lstStyle/>
          <a:p>
            <a:r>
              <a:rPr lang="en-US" sz="1400" i="1" dirty="0">
                <a:latin typeface="Baskerville Old Face" panose="02020602080505020303" pitchFamily="18" charset="0"/>
                <a:cs typeface="Times New Roman" panose="02020603050405020304" pitchFamily="18" charset="0"/>
              </a:rPr>
              <a:t>Abstract</a:t>
            </a:r>
            <a:r>
              <a:rPr lang="en-US" sz="1400" dirty="0">
                <a:latin typeface="Baskerville Old Face" panose="02020602080505020303" pitchFamily="18" charset="0"/>
                <a:cs typeface="Times New Roman" panose="02020603050405020304" pitchFamily="18" charset="0"/>
              </a:rPr>
              <a:t>—The ever-increasing volume of server requests puts digital infrastructure at more risk of cyberattacks. This paper introduces CYBRANA, a cyberattack detection and mitigation system powered by AI. CYBRANA uses a Random Forest model to look into firewall and server logs for potential malicious threats. After analysis of flagged logs to extract request paths, CYBRANA then maps YAML rules to look for known attack pattern detection. Upon successful detection, CYBRANA classifies the attack type and severity (using CVSS scoring) by mapping it to the MITRE CAPEC framework®. This approach bridges the gap between existing cybersecurity frameworks and server log analysis, enabling a novel security pipeline. By automating threat detection and mitigation, CYBRANA enhances the security posture of digital infrastructure. </a:t>
            </a:r>
          </a:p>
          <a:p>
            <a:endParaRPr lang="en-US" sz="1400" dirty="0">
              <a:latin typeface="Baskerville Old Face" panose="02020602080505020303" pitchFamily="18" charset="0"/>
              <a:cs typeface="Times New Roman" panose="02020603050405020304" pitchFamily="18" charset="0"/>
            </a:endParaRPr>
          </a:p>
          <a:p>
            <a:r>
              <a:rPr lang="en-US" sz="1400" i="1" dirty="0">
                <a:latin typeface="Baskerville Old Face" panose="02020602080505020303" pitchFamily="18" charset="0"/>
                <a:cs typeface="Times New Roman" panose="02020603050405020304" pitchFamily="18" charset="0"/>
              </a:rPr>
              <a:t>Index Terms</a:t>
            </a:r>
            <a:r>
              <a:rPr lang="en-US" sz="1400" dirty="0">
                <a:latin typeface="Baskerville Old Face" panose="02020602080505020303" pitchFamily="18" charset="0"/>
                <a:cs typeface="Times New Roman" panose="02020603050405020304" pitchFamily="18" charset="0"/>
              </a:rPr>
              <a:t>—Firewall, NIDS, Log Analysis, Random Forest, MITRE, CVSS Scoring, SIEM, SOC</a:t>
            </a:r>
          </a:p>
        </p:txBody>
      </p:sp>
      <p:sp>
        <p:nvSpPr>
          <p:cNvPr id="7" name="TextBox 6">
            <a:extLst>
              <a:ext uri="{FF2B5EF4-FFF2-40B4-BE49-F238E27FC236}">
                <a16:creationId xmlns:a16="http://schemas.microsoft.com/office/drawing/2014/main" id="{F4777588-53F9-FC09-23B3-D05600B815D3}"/>
              </a:ext>
            </a:extLst>
          </p:cNvPr>
          <p:cNvSpPr txBox="1"/>
          <p:nvPr/>
        </p:nvSpPr>
        <p:spPr>
          <a:xfrm>
            <a:off x="3572408" y="6318784"/>
            <a:ext cx="2895799" cy="400110"/>
          </a:xfrm>
          <a:prstGeom prst="rect">
            <a:avLst/>
          </a:prstGeom>
          <a:noFill/>
        </p:spPr>
        <p:txBody>
          <a:bodyPr wrap="square" rtlCol="0">
            <a:spAutoFit/>
          </a:bodyPr>
          <a:lstStyle/>
          <a:p>
            <a:pPr algn="r"/>
            <a:r>
              <a:rPr lang="en-US" sz="2000" b="1" spc="-150" dirty="0">
                <a:solidFill>
                  <a:srgbClr val="AA3A1C"/>
                </a:solidFill>
                <a:latin typeface="Hanken Grotesk SemiBold" pitchFamily="2" charset="0"/>
              </a:rPr>
              <a:t>// with Dr. G. R. Karpagam</a:t>
            </a:r>
          </a:p>
        </p:txBody>
      </p:sp>
      <p:sp>
        <p:nvSpPr>
          <p:cNvPr id="8" name="TextBox 7">
            <a:extLst>
              <a:ext uri="{FF2B5EF4-FFF2-40B4-BE49-F238E27FC236}">
                <a16:creationId xmlns:a16="http://schemas.microsoft.com/office/drawing/2014/main" id="{51EB29D8-11CE-EC27-A911-F726C643D122}"/>
              </a:ext>
            </a:extLst>
          </p:cNvPr>
          <p:cNvSpPr txBox="1"/>
          <p:nvPr/>
        </p:nvSpPr>
        <p:spPr>
          <a:xfrm>
            <a:off x="389793" y="7659284"/>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    IEEE International Conference on Computer Vision and Machine Intelligence (IEEE CVMI), 2024 at Allahabad, India</a:t>
            </a:r>
          </a:p>
        </p:txBody>
      </p:sp>
      <p:sp>
        <p:nvSpPr>
          <p:cNvPr id="9" name="TextBox 8">
            <a:extLst>
              <a:ext uri="{FF2B5EF4-FFF2-40B4-BE49-F238E27FC236}">
                <a16:creationId xmlns:a16="http://schemas.microsoft.com/office/drawing/2014/main" id="{DAA07DBA-8280-E770-A877-AEF46A4B4ACA}"/>
              </a:ext>
            </a:extLst>
          </p:cNvPr>
          <p:cNvSpPr txBox="1"/>
          <p:nvPr/>
        </p:nvSpPr>
        <p:spPr>
          <a:xfrm>
            <a:off x="389793" y="7659284"/>
            <a:ext cx="361769" cy="707886"/>
          </a:xfrm>
          <a:prstGeom prst="rect">
            <a:avLst/>
          </a:prstGeom>
          <a:noFill/>
        </p:spPr>
        <p:txBody>
          <a:bodyPr wrap="square" rtlCol="0">
            <a:spAutoFit/>
          </a:bodyPr>
          <a:lstStyle/>
          <a:p>
            <a:pPr algn="just"/>
            <a:r>
              <a:rPr lang="en-US" sz="4000" b="1" spc="-300" dirty="0">
                <a:solidFill>
                  <a:srgbClr val="AA3A1C"/>
                </a:solidFill>
                <a:latin typeface="Hanken Grotesk SemiBold" pitchFamily="2" charset="0"/>
              </a:rPr>
              <a:t>*</a:t>
            </a:r>
          </a:p>
        </p:txBody>
      </p:sp>
    </p:spTree>
    <p:extLst>
      <p:ext uri="{BB962C8B-B14F-4D97-AF65-F5344CB8AC3E}">
        <p14:creationId xmlns:p14="http://schemas.microsoft.com/office/powerpoint/2010/main" val="3064963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9DAB4-60C1-2A91-0704-F5A27B34916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96BD170-A0F6-A2B1-8A5D-C9237D6EDE2A}"/>
              </a:ext>
            </a:extLst>
          </p:cNvPr>
          <p:cNvSpPr txBox="1"/>
          <p:nvPr/>
        </p:nvSpPr>
        <p:spPr>
          <a:xfrm>
            <a:off x="389793" y="748283"/>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SHADOW: A framework for Systematic Heuristic Analysis and Detection of Observations on the Web</a:t>
            </a:r>
          </a:p>
        </p:txBody>
      </p:sp>
      <p:sp>
        <p:nvSpPr>
          <p:cNvPr id="6" name="TextBox 5">
            <a:extLst>
              <a:ext uri="{FF2B5EF4-FFF2-40B4-BE49-F238E27FC236}">
                <a16:creationId xmlns:a16="http://schemas.microsoft.com/office/drawing/2014/main" id="{181F189E-729A-46C9-AEE2-B33024041FB4}"/>
              </a:ext>
            </a:extLst>
          </p:cNvPr>
          <p:cNvSpPr txBox="1"/>
          <p:nvPr/>
        </p:nvSpPr>
        <p:spPr>
          <a:xfrm>
            <a:off x="389793" y="2601674"/>
            <a:ext cx="6078414" cy="3323987"/>
          </a:xfrm>
          <a:prstGeom prst="rect">
            <a:avLst/>
          </a:prstGeom>
          <a:noFill/>
        </p:spPr>
        <p:txBody>
          <a:bodyPr wrap="square" rtlCol="0">
            <a:spAutoFit/>
          </a:bodyPr>
          <a:lstStyle/>
          <a:p>
            <a:r>
              <a:rPr lang="en-US" sz="1400" i="1" dirty="0">
                <a:latin typeface="Baskerville Old Face" panose="02020602080505020303" pitchFamily="18" charset="0"/>
                <a:cs typeface="Times New Roman" panose="02020603050405020304" pitchFamily="18" charset="0"/>
              </a:rPr>
              <a:t>Abstract</a:t>
            </a:r>
            <a:r>
              <a:rPr lang="en-US" sz="1400" dirty="0">
                <a:latin typeface="Baskerville Old Face" panose="02020602080505020303" pitchFamily="18" charset="0"/>
                <a:cs typeface="Times New Roman" panose="02020603050405020304" pitchFamily="18" charset="0"/>
              </a:rPr>
              <a:t>—The cyberspace contains vast amounts of information that are crucial for cybersecurity professionals to gather threat intelligence, prevent cyberattacks, and secure organizational networks. Unlike earlier and less targeted attacks, modern cyber-attacks are more organized and sophisticated, often targeting specific groups, which leaves many users unaware of the vulnerable resources within the cyberspace. The increasing freedom on information access in the deep and dark web has led many organizations to identify their data loose on these spaces. Therefore, creating methods to crawl and extract valuable information from the deep web is a critical concern. Some deep web content can be accessed through the surface web by submitting query forms to retrieve the needed information, but it is not as simple in all cases. This paper proposes a system of framework to identify these leaks and notify relevant parties on the same in-time.</a:t>
            </a:r>
          </a:p>
          <a:p>
            <a:endParaRPr lang="en-US" sz="1400" dirty="0">
              <a:latin typeface="Baskerville Old Face" panose="02020602080505020303" pitchFamily="18" charset="0"/>
              <a:cs typeface="Times New Roman" panose="02020603050405020304" pitchFamily="18" charset="0"/>
            </a:endParaRPr>
          </a:p>
          <a:p>
            <a:r>
              <a:rPr lang="en-US" sz="1400" i="1" dirty="0">
                <a:latin typeface="Baskerville Old Face" panose="02020602080505020303" pitchFamily="18" charset="0"/>
                <a:cs typeface="Times New Roman" panose="02020603050405020304" pitchFamily="18" charset="0"/>
              </a:rPr>
              <a:t>Index Terms</a:t>
            </a:r>
            <a:r>
              <a:rPr lang="en-US" sz="1400" dirty="0">
                <a:latin typeface="Baskerville Old Face" panose="02020602080505020303" pitchFamily="18" charset="0"/>
                <a:cs typeface="Times New Roman" panose="02020603050405020304" pitchFamily="18" charset="0"/>
              </a:rPr>
              <a:t>—Data Breach , Named Entity Recognition , Ranking , Cybersecurity , Snowball Sampling , Blockchain , Attack Tree , Web Scraping , Wayback Machine</a:t>
            </a:r>
          </a:p>
        </p:txBody>
      </p:sp>
      <p:sp>
        <p:nvSpPr>
          <p:cNvPr id="7" name="TextBox 6">
            <a:extLst>
              <a:ext uri="{FF2B5EF4-FFF2-40B4-BE49-F238E27FC236}">
                <a16:creationId xmlns:a16="http://schemas.microsoft.com/office/drawing/2014/main" id="{55998AEE-9273-7FCC-6259-35971817A391}"/>
              </a:ext>
            </a:extLst>
          </p:cNvPr>
          <p:cNvSpPr txBox="1"/>
          <p:nvPr/>
        </p:nvSpPr>
        <p:spPr>
          <a:xfrm>
            <a:off x="751562" y="6394058"/>
            <a:ext cx="5716645" cy="707886"/>
          </a:xfrm>
          <a:prstGeom prst="rect">
            <a:avLst/>
          </a:prstGeom>
          <a:noFill/>
        </p:spPr>
        <p:txBody>
          <a:bodyPr wrap="square" rtlCol="0">
            <a:spAutoFit/>
          </a:bodyPr>
          <a:lstStyle/>
          <a:p>
            <a:pPr algn="r"/>
            <a:r>
              <a:rPr lang="en-US" sz="2000" b="1" spc="-150" dirty="0">
                <a:solidFill>
                  <a:srgbClr val="AA3A1C"/>
                </a:solidFill>
                <a:latin typeface="Hanken Grotesk SemiBold" pitchFamily="2" charset="0"/>
              </a:rPr>
              <a:t>// with Lohith Senthilkumar, Neelesh Padmanabh and Akhil Ramalingam</a:t>
            </a:r>
          </a:p>
        </p:txBody>
      </p:sp>
      <p:sp>
        <p:nvSpPr>
          <p:cNvPr id="8" name="TextBox 7">
            <a:extLst>
              <a:ext uri="{FF2B5EF4-FFF2-40B4-BE49-F238E27FC236}">
                <a16:creationId xmlns:a16="http://schemas.microsoft.com/office/drawing/2014/main" id="{68D6FCD8-0326-C6B4-3EE7-18F00B86450C}"/>
              </a:ext>
            </a:extLst>
          </p:cNvPr>
          <p:cNvSpPr txBox="1"/>
          <p:nvPr/>
        </p:nvSpPr>
        <p:spPr>
          <a:xfrm>
            <a:off x="389793" y="7659284"/>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     International Conference on Artificial Intelligence, Metaverse and Cybersecurity (ICAMAC), 2024 at Dubai, UAE</a:t>
            </a:r>
          </a:p>
        </p:txBody>
      </p:sp>
      <p:sp>
        <p:nvSpPr>
          <p:cNvPr id="9" name="TextBox 8">
            <a:extLst>
              <a:ext uri="{FF2B5EF4-FFF2-40B4-BE49-F238E27FC236}">
                <a16:creationId xmlns:a16="http://schemas.microsoft.com/office/drawing/2014/main" id="{2BE36D8D-530F-8831-3772-EC332A632783}"/>
              </a:ext>
            </a:extLst>
          </p:cNvPr>
          <p:cNvSpPr txBox="1"/>
          <p:nvPr/>
        </p:nvSpPr>
        <p:spPr>
          <a:xfrm>
            <a:off x="389793" y="7659284"/>
            <a:ext cx="361769" cy="707886"/>
          </a:xfrm>
          <a:prstGeom prst="rect">
            <a:avLst/>
          </a:prstGeom>
          <a:noFill/>
        </p:spPr>
        <p:txBody>
          <a:bodyPr wrap="square" rtlCol="0">
            <a:spAutoFit/>
          </a:bodyPr>
          <a:lstStyle/>
          <a:p>
            <a:pPr algn="just"/>
            <a:r>
              <a:rPr lang="en-US" sz="4000" b="1" spc="-300" dirty="0">
                <a:solidFill>
                  <a:srgbClr val="AA3A1C"/>
                </a:solidFill>
                <a:latin typeface="Hanken Grotesk SemiBold" pitchFamily="2" charset="0"/>
              </a:rPr>
              <a:t>*</a:t>
            </a:r>
          </a:p>
        </p:txBody>
      </p:sp>
    </p:spTree>
    <p:extLst>
      <p:ext uri="{BB962C8B-B14F-4D97-AF65-F5344CB8AC3E}">
        <p14:creationId xmlns:p14="http://schemas.microsoft.com/office/powerpoint/2010/main" val="2211836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D2034-CED9-9E69-9E2F-2A993CAE50C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72C5EA-F1F7-82DE-4967-04B59840A219}"/>
              </a:ext>
            </a:extLst>
          </p:cNvPr>
          <p:cNvSpPr txBox="1"/>
          <p:nvPr/>
        </p:nvSpPr>
        <p:spPr>
          <a:xfrm>
            <a:off x="389793" y="1025507"/>
            <a:ext cx="6078414" cy="954107"/>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FLARE: Federated Learning And Resilient Encryption for Firewalls</a:t>
            </a:r>
          </a:p>
        </p:txBody>
      </p:sp>
      <p:sp>
        <p:nvSpPr>
          <p:cNvPr id="10" name="TextBox 9">
            <a:extLst>
              <a:ext uri="{FF2B5EF4-FFF2-40B4-BE49-F238E27FC236}">
                <a16:creationId xmlns:a16="http://schemas.microsoft.com/office/drawing/2014/main" id="{E83A1882-722A-43D9-E1B0-A3DB83ABEB01}"/>
              </a:ext>
            </a:extLst>
          </p:cNvPr>
          <p:cNvSpPr txBox="1"/>
          <p:nvPr/>
        </p:nvSpPr>
        <p:spPr>
          <a:xfrm>
            <a:off x="389793" y="2644676"/>
            <a:ext cx="6078414" cy="4616648"/>
          </a:xfrm>
          <a:prstGeom prst="rect">
            <a:avLst/>
          </a:prstGeom>
          <a:noFill/>
        </p:spPr>
        <p:txBody>
          <a:bodyPr wrap="square" rtlCol="0">
            <a:spAutoFit/>
          </a:bodyPr>
          <a:lstStyle/>
          <a:p>
            <a:r>
              <a:rPr lang="en-US" sz="1400" i="1" dirty="0">
                <a:latin typeface="Baskerville Old Face" panose="02020602080505020303" pitchFamily="18" charset="0"/>
                <a:cs typeface="Times New Roman" panose="02020603050405020304" pitchFamily="18" charset="0"/>
              </a:rPr>
              <a:t>Abstract</a:t>
            </a:r>
            <a:r>
              <a:rPr lang="en-US" sz="1400" dirty="0">
                <a:latin typeface="Baskerville Old Face" panose="02020602080505020303" pitchFamily="18" charset="0"/>
                <a:cs typeface="Times New Roman" panose="02020603050405020304" pitchFamily="18" charset="0"/>
              </a:rPr>
              <a:t>—Traditional firewalls rely on static rule-based mechanisms, where rules are manually defined and often written in specialized languages. While effective to a degree, these rules are inherently limited and can be easily bypassed by new and evolving types of malware, leading to significant security vulnerabilities. To address these challenges, we propose FLARE: Federated Learning And Resilient Encryption, a novel machine learning-based firewall solution. FLARE dynamically analyzes past network connections to predict and determine the appropriate actions for incoming traffic, thereby adapting to emerging threats in real-</a:t>
            </a:r>
            <a:r>
              <a:rPr lang="en-US" sz="1400" dirty="0" err="1">
                <a:latin typeface="Baskerville Old Face" panose="02020602080505020303" pitchFamily="18" charset="0"/>
                <a:cs typeface="Times New Roman" panose="02020603050405020304" pitchFamily="18" charset="0"/>
              </a:rPr>
              <a:t>time.Given</a:t>
            </a:r>
            <a:r>
              <a:rPr lang="en-US" sz="1400" dirty="0">
                <a:latin typeface="Baskerville Old Face" panose="02020602080505020303" pitchFamily="18" charset="0"/>
                <a:cs typeface="Times New Roman" panose="02020603050405020304" pitchFamily="18" charset="0"/>
              </a:rPr>
              <a:t> the sensitive nature of firewall data, which often contains confidential information, the training of machine learning models poses significant privacy risks. FLARE mitigates these risks by incorporating federated learning, allowing the model to learn from decentralized data sources without requiring raw data to be shared. To further enhance privacy, we introduce an encryption layer that ensures the central model learns from encrypted weights, preventing exposure of sensitive information known to the local model. This combined approach not only improves the resilience of firewalls but also safeguards the confidentiality of the data used in training, offering a robust solution for modern cybersecurity challenges.</a:t>
            </a:r>
          </a:p>
          <a:p>
            <a:endParaRPr lang="en-US" sz="1400" dirty="0">
              <a:latin typeface="Baskerville Old Face" panose="02020602080505020303" pitchFamily="18" charset="0"/>
              <a:cs typeface="Times New Roman" panose="02020603050405020304" pitchFamily="18" charset="0"/>
            </a:endParaRPr>
          </a:p>
          <a:p>
            <a:r>
              <a:rPr lang="en-US" sz="1400" i="1" dirty="0">
                <a:latin typeface="Baskerville Old Face" panose="02020602080505020303" pitchFamily="18" charset="0"/>
                <a:cs typeface="Times New Roman" panose="02020603050405020304" pitchFamily="18" charset="0"/>
              </a:rPr>
              <a:t>Index Terms</a:t>
            </a:r>
            <a:r>
              <a:rPr lang="en-US" sz="1400" dirty="0">
                <a:latin typeface="Baskerville Old Face" panose="02020602080505020303" pitchFamily="18" charset="0"/>
                <a:cs typeface="Times New Roman" panose="02020603050405020304" pitchFamily="18" charset="0"/>
              </a:rPr>
              <a:t>—Training , Adaptation models , Data privacy , Analytical models , Firewalls (computing) , Federated learning , Predictive models , Data models , Encryption , Random forests</a:t>
            </a:r>
          </a:p>
        </p:txBody>
      </p:sp>
      <p:sp>
        <p:nvSpPr>
          <p:cNvPr id="11" name="TextBox 10">
            <a:extLst>
              <a:ext uri="{FF2B5EF4-FFF2-40B4-BE49-F238E27FC236}">
                <a16:creationId xmlns:a16="http://schemas.microsoft.com/office/drawing/2014/main" id="{EE0A3A72-831C-4198-8A0D-D58E4C6AA54F}"/>
              </a:ext>
            </a:extLst>
          </p:cNvPr>
          <p:cNvSpPr txBox="1"/>
          <p:nvPr/>
        </p:nvSpPr>
        <p:spPr>
          <a:xfrm>
            <a:off x="751562" y="7116800"/>
            <a:ext cx="5716645" cy="400110"/>
          </a:xfrm>
          <a:prstGeom prst="rect">
            <a:avLst/>
          </a:prstGeom>
          <a:noFill/>
        </p:spPr>
        <p:txBody>
          <a:bodyPr wrap="square" rtlCol="0">
            <a:spAutoFit/>
          </a:bodyPr>
          <a:lstStyle/>
          <a:p>
            <a:pPr algn="r"/>
            <a:r>
              <a:rPr lang="en-US" sz="2000" b="1" spc="-150" dirty="0">
                <a:solidFill>
                  <a:srgbClr val="AA3A1C"/>
                </a:solidFill>
                <a:latin typeface="Hanken Grotesk SemiBold" pitchFamily="2" charset="0"/>
              </a:rPr>
              <a:t>// with Lohith Senthilkumar</a:t>
            </a:r>
          </a:p>
        </p:txBody>
      </p:sp>
      <p:sp>
        <p:nvSpPr>
          <p:cNvPr id="12" name="TextBox 11">
            <a:extLst>
              <a:ext uri="{FF2B5EF4-FFF2-40B4-BE49-F238E27FC236}">
                <a16:creationId xmlns:a16="http://schemas.microsoft.com/office/drawing/2014/main" id="{1C77E353-12DA-62DA-DEA1-CA3124C69439}"/>
              </a:ext>
            </a:extLst>
          </p:cNvPr>
          <p:cNvSpPr txBox="1"/>
          <p:nvPr/>
        </p:nvSpPr>
        <p:spPr>
          <a:xfrm>
            <a:off x="389793" y="8172607"/>
            <a:ext cx="6078414" cy="954107"/>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     IEEE Pune Section International Conference (</a:t>
            </a:r>
            <a:r>
              <a:rPr lang="en-US" sz="2800" b="1" spc="-300" dirty="0" err="1">
                <a:solidFill>
                  <a:srgbClr val="AA3A1C"/>
                </a:solidFill>
                <a:latin typeface="Hanken Grotesk SemiBold" pitchFamily="2" charset="0"/>
              </a:rPr>
              <a:t>PuneCon</a:t>
            </a:r>
            <a:r>
              <a:rPr lang="en-US" sz="2800" b="1" spc="-300" dirty="0">
                <a:solidFill>
                  <a:srgbClr val="AA3A1C"/>
                </a:solidFill>
                <a:latin typeface="Hanken Grotesk SemiBold" pitchFamily="2" charset="0"/>
              </a:rPr>
              <a:t>), 2024 at Pune, India</a:t>
            </a:r>
          </a:p>
        </p:txBody>
      </p:sp>
      <p:sp>
        <p:nvSpPr>
          <p:cNvPr id="13" name="TextBox 12">
            <a:extLst>
              <a:ext uri="{FF2B5EF4-FFF2-40B4-BE49-F238E27FC236}">
                <a16:creationId xmlns:a16="http://schemas.microsoft.com/office/drawing/2014/main" id="{F7B64D97-EAF6-6AA3-A07C-3EF70AD15B4E}"/>
              </a:ext>
            </a:extLst>
          </p:cNvPr>
          <p:cNvSpPr txBox="1"/>
          <p:nvPr/>
        </p:nvSpPr>
        <p:spPr>
          <a:xfrm>
            <a:off x="389793" y="8172607"/>
            <a:ext cx="361769" cy="707886"/>
          </a:xfrm>
          <a:prstGeom prst="rect">
            <a:avLst/>
          </a:prstGeom>
          <a:noFill/>
        </p:spPr>
        <p:txBody>
          <a:bodyPr wrap="square" rtlCol="0">
            <a:spAutoFit/>
          </a:bodyPr>
          <a:lstStyle/>
          <a:p>
            <a:pPr algn="just"/>
            <a:r>
              <a:rPr lang="en-US" sz="4000" b="1" spc="-300" dirty="0">
                <a:solidFill>
                  <a:srgbClr val="AA3A1C"/>
                </a:solidFill>
                <a:latin typeface="Hanken Grotesk SemiBold" pitchFamily="2" charset="0"/>
              </a:rPr>
              <a:t>*</a:t>
            </a:r>
          </a:p>
        </p:txBody>
      </p:sp>
    </p:spTree>
    <p:extLst>
      <p:ext uri="{BB962C8B-B14F-4D97-AF65-F5344CB8AC3E}">
        <p14:creationId xmlns:p14="http://schemas.microsoft.com/office/powerpoint/2010/main" val="2362807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B7C22-B744-EC9F-DA94-84B65B14A90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E8DCE37-2DA1-BE62-3F6F-BCCC887CFA50}"/>
              </a:ext>
            </a:extLst>
          </p:cNvPr>
          <p:cNvSpPr txBox="1"/>
          <p:nvPr/>
        </p:nvSpPr>
        <p:spPr>
          <a:xfrm>
            <a:off x="389793" y="3070071"/>
            <a:ext cx="6078414" cy="3323987"/>
          </a:xfrm>
          <a:prstGeom prst="rect">
            <a:avLst/>
          </a:prstGeom>
          <a:noFill/>
        </p:spPr>
        <p:txBody>
          <a:bodyPr wrap="square" rtlCol="0">
            <a:spAutoFit/>
          </a:bodyPr>
          <a:lstStyle/>
          <a:p>
            <a:r>
              <a:rPr lang="en-US" sz="1400" i="1" dirty="0">
                <a:latin typeface="Baskerville Old Face" panose="02020602080505020303" pitchFamily="18" charset="0"/>
                <a:cs typeface="Times New Roman" panose="02020603050405020304" pitchFamily="18" charset="0"/>
              </a:rPr>
              <a:t>Abstract</a:t>
            </a:r>
            <a:r>
              <a:rPr lang="en-US" sz="1400" dirty="0">
                <a:latin typeface="Baskerville Old Face" panose="02020602080505020303" pitchFamily="18" charset="0"/>
                <a:cs typeface="Times New Roman" panose="02020603050405020304" pitchFamily="18" charset="0"/>
              </a:rPr>
              <a:t>—This paper introduces a novel approach to enhance privacy-preserving machine learning (PPML) by integrating adversarial techniques with Homomorphic Encryption (HE) and Differential Privacy (DP). Privacy-Preserving machine learning (PPML) plays a key role in privacy protection. Current methods like homomorphic encryption (HE) and differential privacy (DP) aim to strike a balance between keeping data private and making sure models work well. This method embeds adversarial attacks within model optimization, strengthening resistance to privacy breaches while maintaining high model performance. Experimental results across various datasets achieving an accuracy of 89% in HE and DP demonstrate that this approach effectively balances privacy and utility, outperforming traditional PPML methods in safeguarding sensitive data without compromising model accuracy.</a:t>
            </a:r>
          </a:p>
          <a:p>
            <a:endParaRPr lang="en-US" sz="1400" dirty="0">
              <a:latin typeface="Baskerville Old Face" panose="02020602080505020303" pitchFamily="18" charset="0"/>
              <a:cs typeface="Times New Roman" panose="02020603050405020304" pitchFamily="18" charset="0"/>
            </a:endParaRPr>
          </a:p>
          <a:p>
            <a:r>
              <a:rPr lang="en-US" sz="1400" i="1" dirty="0">
                <a:latin typeface="Baskerville Old Face" panose="02020602080505020303" pitchFamily="18" charset="0"/>
                <a:cs typeface="Times New Roman" panose="02020603050405020304" pitchFamily="18" charset="0"/>
              </a:rPr>
              <a:t>Index Terms</a:t>
            </a:r>
            <a:r>
              <a:rPr lang="en-US" sz="1400" dirty="0">
                <a:latin typeface="Baskerville Old Face" panose="02020602080505020303" pitchFamily="18" charset="0"/>
                <a:cs typeface="Times New Roman" panose="02020603050405020304" pitchFamily="18" charset="0"/>
              </a:rPr>
              <a:t>—Training , Resistance , Differential privacy , Accuracy , Computational modeling , Machine learning , Data augmentation , Data models , Homomorphic encryption , Resilience</a:t>
            </a:r>
          </a:p>
        </p:txBody>
      </p:sp>
      <p:sp>
        <p:nvSpPr>
          <p:cNvPr id="8" name="TextBox 7">
            <a:extLst>
              <a:ext uri="{FF2B5EF4-FFF2-40B4-BE49-F238E27FC236}">
                <a16:creationId xmlns:a16="http://schemas.microsoft.com/office/drawing/2014/main" id="{0F054079-F470-EC0D-02D5-C03C3702DDE2}"/>
              </a:ext>
            </a:extLst>
          </p:cNvPr>
          <p:cNvSpPr txBox="1"/>
          <p:nvPr/>
        </p:nvSpPr>
        <p:spPr>
          <a:xfrm>
            <a:off x="389793" y="7659284"/>
            <a:ext cx="6078414" cy="1815882"/>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    International Conference on Distributed Systems, Computer Networks and Cybersecurity (ICDSCNC), 2024 at Bengaluru, India</a:t>
            </a:r>
          </a:p>
        </p:txBody>
      </p:sp>
      <p:sp>
        <p:nvSpPr>
          <p:cNvPr id="9" name="TextBox 8">
            <a:extLst>
              <a:ext uri="{FF2B5EF4-FFF2-40B4-BE49-F238E27FC236}">
                <a16:creationId xmlns:a16="http://schemas.microsoft.com/office/drawing/2014/main" id="{E4A76535-0050-84BC-4E1B-A80DE70F7604}"/>
              </a:ext>
            </a:extLst>
          </p:cNvPr>
          <p:cNvSpPr txBox="1"/>
          <p:nvPr/>
        </p:nvSpPr>
        <p:spPr>
          <a:xfrm>
            <a:off x="389793" y="7659284"/>
            <a:ext cx="361769" cy="707886"/>
          </a:xfrm>
          <a:prstGeom prst="rect">
            <a:avLst/>
          </a:prstGeom>
          <a:noFill/>
        </p:spPr>
        <p:txBody>
          <a:bodyPr wrap="square" rtlCol="0">
            <a:spAutoFit/>
          </a:bodyPr>
          <a:lstStyle/>
          <a:p>
            <a:pPr algn="just"/>
            <a:r>
              <a:rPr lang="en-US" sz="4000" b="1" spc="-300" dirty="0">
                <a:solidFill>
                  <a:srgbClr val="AA3A1C"/>
                </a:solidFill>
                <a:latin typeface="Hanken Grotesk SemiBold" pitchFamily="2" charset="0"/>
              </a:rPr>
              <a:t>*</a:t>
            </a:r>
          </a:p>
        </p:txBody>
      </p:sp>
      <p:sp>
        <p:nvSpPr>
          <p:cNvPr id="2" name="TextBox 1">
            <a:extLst>
              <a:ext uri="{FF2B5EF4-FFF2-40B4-BE49-F238E27FC236}">
                <a16:creationId xmlns:a16="http://schemas.microsoft.com/office/drawing/2014/main" id="{6B0B5905-E06E-4499-2F9D-4AB83887D66F}"/>
              </a:ext>
            </a:extLst>
          </p:cNvPr>
          <p:cNvSpPr txBox="1"/>
          <p:nvPr/>
        </p:nvSpPr>
        <p:spPr>
          <a:xfrm>
            <a:off x="1215025" y="6394058"/>
            <a:ext cx="5253182" cy="707886"/>
          </a:xfrm>
          <a:prstGeom prst="rect">
            <a:avLst/>
          </a:prstGeom>
          <a:noFill/>
        </p:spPr>
        <p:txBody>
          <a:bodyPr wrap="square" rtlCol="0">
            <a:spAutoFit/>
          </a:bodyPr>
          <a:lstStyle/>
          <a:p>
            <a:pPr algn="r"/>
            <a:r>
              <a:rPr lang="en-US" sz="2000" b="1" spc="-150" dirty="0">
                <a:solidFill>
                  <a:srgbClr val="AA3A1C"/>
                </a:solidFill>
                <a:latin typeface="Hanken Grotesk SemiBold" pitchFamily="2" charset="0"/>
              </a:rPr>
              <a:t>// with Lohith Senthilkumar, Amitha Lakshmi Raj and Arun U S</a:t>
            </a:r>
          </a:p>
        </p:txBody>
      </p:sp>
      <p:sp>
        <p:nvSpPr>
          <p:cNvPr id="3" name="TextBox 2">
            <a:extLst>
              <a:ext uri="{FF2B5EF4-FFF2-40B4-BE49-F238E27FC236}">
                <a16:creationId xmlns:a16="http://schemas.microsoft.com/office/drawing/2014/main" id="{47AF06D4-D76C-4818-EE2B-CE0C0FA78999}"/>
              </a:ext>
            </a:extLst>
          </p:cNvPr>
          <p:cNvSpPr txBox="1"/>
          <p:nvPr/>
        </p:nvSpPr>
        <p:spPr>
          <a:xfrm>
            <a:off x="389793" y="931832"/>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Enhancing the Resilience of Privacy-Preserving Machine Learning using Adversarial Techniques</a:t>
            </a:r>
          </a:p>
        </p:txBody>
      </p:sp>
    </p:spTree>
    <p:extLst>
      <p:ext uri="{BB962C8B-B14F-4D97-AF65-F5344CB8AC3E}">
        <p14:creationId xmlns:p14="http://schemas.microsoft.com/office/powerpoint/2010/main" val="697573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B4FCA-832E-5799-CA00-85E075AC024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C4FD8BB6-E79C-CD67-ECE3-67A35D38B2FB}"/>
              </a:ext>
            </a:extLst>
          </p:cNvPr>
          <p:cNvSpPr txBox="1"/>
          <p:nvPr/>
        </p:nvSpPr>
        <p:spPr>
          <a:xfrm>
            <a:off x="389793" y="3070071"/>
            <a:ext cx="6078414" cy="3108543"/>
          </a:xfrm>
          <a:prstGeom prst="rect">
            <a:avLst/>
          </a:prstGeom>
          <a:noFill/>
        </p:spPr>
        <p:txBody>
          <a:bodyPr wrap="square" rtlCol="0">
            <a:spAutoFit/>
          </a:bodyPr>
          <a:lstStyle/>
          <a:p>
            <a:r>
              <a:rPr lang="en-US" sz="1400" i="1" dirty="0">
                <a:latin typeface="Baskerville Old Face" panose="02020602080505020303" pitchFamily="18" charset="0"/>
                <a:cs typeface="Times New Roman" panose="02020603050405020304" pitchFamily="18" charset="0"/>
              </a:rPr>
              <a:t>Abstract</a:t>
            </a:r>
            <a:r>
              <a:rPr lang="en-US" sz="1400" dirty="0">
                <a:latin typeface="Baskerville Old Face" panose="02020602080505020303" pitchFamily="18" charset="0"/>
                <a:cs typeface="Times New Roman" panose="02020603050405020304" pitchFamily="18" charset="0"/>
              </a:rPr>
              <a:t>—Warfarin is a commonly used anticoagulant for which dosing needs to be individually optimized highly tightly to match against the potential for bleeding and thrombotic side effects. We introduce herein in this article a machine learning system that makes use of clinical, genetic, and demographic information to predict warfarin patient-specific dosing. Our method is becoming more sophisticated with various iterations starting from a baseline model, then an optimal </a:t>
            </a:r>
            <a:r>
              <a:rPr lang="en-US" sz="1400" dirty="0" err="1">
                <a:latin typeface="Baskerville Old Face" panose="02020602080505020303" pitchFamily="18" charset="0"/>
                <a:cs typeface="Times New Roman" panose="02020603050405020304" pitchFamily="18" charset="0"/>
              </a:rPr>
              <a:t>XGBoost</a:t>
            </a:r>
            <a:r>
              <a:rPr lang="en-US" sz="1400" dirty="0">
                <a:latin typeface="Baskerville Old Face" panose="02020602080505020303" pitchFamily="18" charset="0"/>
                <a:cs typeface="Times New Roman" panose="02020603050405020304" pitchFamily="18" charset="0"/>
              </a:rPr>
              <a:t> model incorporating polynomial feature expansions, and finally ending with an optimized gradient boosting implementation coded from scratch. Model performance is evaluated on R2 metrics complemented with explainability tests using SHAP and LIME, hence achieving accuracy and interpretability to clinical decision-making.</a:t>
            </a:r>
          </a:p>
          <a:p>
            <a:endParaRPr lang="en-US" sz="1400" dirty="0">
              <a:latin typeface="Baskerville Old Face" panose="02020602080505020303" pitchFamily="18" charset="0"/>
              <a:cs typeface="Times New Roman" panose="02020603050405020304" pitchFamily="18" charset="0"/>
            </a:endParaRPr>
          </a:p>
          <a:p>
            <a:r>
              <a:rPr lang="en-US" sz="1400" i="1" dirty="0">
                <a:latin typeface="Baskerville Old Face" panose="02020602080505020303" pitchFamily="18" charset="0"/>
                <a:cs typeface="Times New Roman" panose="02020603050405020304" pitchFamily="18" charset="0"/>
              </a:rPr>
              <a:t>Index Terms</a:t>
            </a:r>
            <a:r>
              <a:rPr lang="en-US" sz="1400" dirty="0">
                <a:latin typeface="Baskerville Old Face" panose="02020602080505020303" pitchFamily="18" charset="0"/>
                <a:cs typeface="Times New Roman" panose="02020603050405020304" pitchFamily="18" charset="0"/>
              </a:rPr>
              <a:t>—Measurement , Machine learning algorithms , Explainable AI , Computational modeling , Predictive models , Boosting , Genetics , Polynomials , Iterative methods , Hemorrhaging</a:t>
            </a:r>
          </a:p>
        </p:txBody>
      </p:sp>
      <p:sp>
        <p:nvSpPr>
          <p:cNvPr id="8" name="TextBox 7">
            <a:extLst>
              <a:ext uri="{FF2B5EF4-FFF2-40B4-BE49-F238E27FC236}">
                <a16:creationId xmlns:a16="http://schemas.microsoft.com/office/drawing/2014/main" id="{94F950DA-3AF4-8D55-38F6-F482AF2FCE6A}"/>
              </a:ext>
            </a:extLst>
          </p:cNvPr>
          <p:cNvSpPr txBox="1"/>
          <p:nvPr/>
        </p:nvSpPr>
        <p:spPr>
          <a:xfrm>
            <a:off x="389793" y="7659284"/>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    International Conference on Machine Learning and Cybernetics (ICMLC), 2025 at Bali, Indonesia</a:t>
            </a:r>
          </a:p>
        </p:txBody>
      </p:sp>
      <p:sp>
        <p:nvSpPr>
          <p:cNvPr id="9" name="TextBox 8">
            <a:extLst>
              <a:ext uri="{FF2B5EF4-FFF2-40B4-BE49-F238E27FC236}">
                <a16:creationId xmlns:a16="http://schemas.microsoft.com/office/drawing/2014/main" id="{F1D2A1E3-0A69-2125-96CC-A1A4E1303D04}"/>
              </a:ext>
            </a:extLst>
          </p:cNvPr>
          <p:cNvSpPr txBox="1"/>
          <p:nvPr/>
        </p:nvSpPr>
        <p:spPr>
          <a:xfrm>
            <a:off x="389793" y="7659284"/>
            <a:ext cx="361769" cy="707886"/>
          </a:xfrm>
          <a:prstGeom prst="rect">
            <a:avLst/>
          </a:prstGeom>
          <a:noFill/>
        </p:spPr>
        <p:txBody>
          <a:bodyPr wrap="square" rtlCol="0">
            <a:spAutoFit/>
          </a:bodyPr>
          <a:lstStyle/>
          <a:p>
            <a:pPr algn="just"/>
            <a:r>
              <a:rPr lang="en-US" sz="4000" b="1" spc="-300" dirty="0">
                <a:solidFill>
                  <a:srgbClr val="AA3A1C"/>
                </a:solidFill>
                <a:latin typeface="Hanken Grotesk SemiBold" pitchFamily="2" charset="0"/>
              </a:rPr>
              <a:t>*</a:t>
            </a:r>
          </a:p>
        </p:txBody>
      </p:sp>
      <p:sp>
        <p:nvSpPr>
          <p:cNvPr id="2" name="TextBox 1">
            <a:extLst>
              <a:ext uri="{FF2B5EF4-FFF2-40B4-BE49-F238E27FC236}">
                <a16:creationId xmlns:a16="http://schemas.microsoft.com/office/drawing/2014/main" id="{26ACE28C-2873-1302-A4E3-0FA41C8E9974}"/>
              </a:ext>
            </a:extLst>
          </p:cNvPr>
          <p:cNvSpPr txBox="1"/>
          <p:nvPr/>
        </p:nvSpPr>
        <p:spPr>
          <a:xfrm>
            <a:off x="864296" y="6394058"/>
            <a:ext cx="5603911" cy="707886"/>
          </a:xfrm>
          <a:prstGeom prst="rect">
            <a:avLst/>
          </a:prstGeom>
          <a:noFill/>
        </p:spPr>
        <p:txBody>
          <a:bodyPr wrap="square" rtlCol="0">
            <a:spAutoFit/>
          </a:bodyPr>
          <a:lstStyle/>
          <a:p>
            <a:pPr algn="r"/>
            <a:r>
              <a:rPr lang="en-US" sz="2000" b="1" spc="-150" dirty="0">
                <a:solidFill>
                  <a:srgbClr val="AA3A1C"/>
                </a:solidFill>
                <a:latin typeface="Hanken Grotesk SemiBold" pitchFamily="2" charset="0"/>
              </a:rPr>
              <a:t>// with Akshay Perison Davis, Navaneetha Krishnan K S, R Vishal, Subhasri Shreya S L and Jayashree L S</a:t>
            </a:r>
          </a:p>
        </p:txBody>
      </p:sp>
      <p:sp>
        <p:nvSpPr>
          <p:cNvPr id="3" name="TextBox 2">
            <a:extLst>
              <a:ext uri="{FF2B5EF4-FFF2-40B4-BE49-F238E27FC236}">
                <a16:creationId xmlns:a16="http://schemas.microsoft.com/office/drawing/2014/main" id="{6EBA3B72-FF9D-F3ED-5BC4-69DCB414E2FA}"/>
              </a:ext>
            </a:extLst>
          </p:cNvPr>
          <p:cNvSpPr txBox="1"/>
          <p:nvPr/>
        </p:nvSpPr>
        <p:spPr>
          <a:xfrm>
            <a:off x="389793" y="931832"/>
            <a:ext cx="6078414" cy="1815882"/>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Estimation of Warfarin Dosage using a Specialized </a:t>
            </a:r>
            <a:r>
              <a:rPr lang="en-US" sz="2800" b="1" spc="-300" dirty="0" err="1">
                <a:solidFill>
                  <a:srgbClr val="AA3A1C"/>
                </a:solidFill>
                <a:latin typeface="Hanken Grotesk SemiBold" pitchFamily="2" charset="0"/>
              </a:rPr>
              <a:t>XGBoost</a:t>
            </a:r>
            <a:r>
              <a:rPr lang="en-US" sz="2800" b="1" spc="-300" dirty="0">
                <a:solidFill>
                  <a:srgbClr val="AA3A1C"/>
                </a:solidFill>
                <a:latin typeface="Hanken Grotesk SemiBold" pitchFamily="2" charset="0"/>
              </a:rPr>
              <a:t>-based Pharmacogenomic Machine Learning Model and Evaluation using XAI</a:t>
            </a:r>
          </a:p>
        </p:txBody>
      </p:sp>
    </p:spTree>
    <p:extLst>
      <p:ext uri="{BB962C8B-B14F-4D97-AF65-F5344CB8AC3E}">
        <p14:creationId xmlns:p14="http://schemas.microsoft.com/office/powerpoint/2010/main" val="3365991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358E1-6F43-54C1-B403-65BBDF2CD79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C77A9B1-3192-7CA2-E679-3DAD9EB90DB7}"/>
              </a:ext>
            </a:extLst>
          </p:cNvPr>
          <p:cNvSpPr txBox="1"/>
          <p:nvPr/>
        </p:nvSpPr>
        <p:spPr>
          <a:xfrm>
            <a:off x="389793" y="3070071"/>
            <a:ext cx="6078414" cy="3323987"/>
          </a:xfrm>
          <a:prstGeom prst="rect">
            <a:avLst/>
          </a:prstGeom>
          <a:noFill/>
        </p:spPr>
        <p:txBody>
          <a:bodyPr wrap="square" rtlCol="0">
            <a:spAutoFit/>
          </a:bodyPr>
          <a:lstStyle/>
          <a:p>
            <a:r>
              <a:rPr lang="en-US" sz="1400" i="1" dirty="0">
                <a:latin typeface="Baskerville Old Face" panose="02020602080505020303" pitchFamily="18" charset="0"/>
                <a:cs typeface="Times New Roman" panose="02020603050405020304" pitchFamily="18" charset="0"/>
              </a:rPr>
              <a:t>Abstract</a:t>
            </a:r>
            <a:r>
              <a:rPr lang="en-US" sz="1400" dirty="0">
                <a:latin typeface="Baskerville Old Face" panose="02020602080505020303" pitchFamily="18" charset="0"/>
                <a:cs typeface="Times New Roman" panose="02020603050405020304" pitchFamily="18" charset="0"/>
              </a:rPr>
              <a:t>—</a:t>
            </a:r>
            <a:r>
              <a:rPr lang="en-US" sz="1400" dirty="0">
                <a:latin typeface="Baskerville Old Face" panose="02020602080505020303" pitchFamily="18" charset="0"/>
              </a:rPr>
              <a:t>This paper introduces ASTRA (Advanced Security Threat Response and Analysis), a novel system designed to enhance cybersecurity operations. ASTRA connects to multiple STIX (Structured Threat Information Expression) threat feeds, offering a comprehensive dashboard that includes a lookup interface, a visualizer tool, and a log analysis tool to detect Indicators of Compromise (IOCs) from any log file. The challenge addressed by this paper lies in the limitations of current cybersecurity methods, which predominantly rely on manual signature development and static rules for threat detection and mitigation. Presently, cybersecurity strategies often struggle to keep pace with the dynamic nature of modern threats, leading to gaps in protection. ASTRA’s novelty lies in its ability to dynamically analyze and respond to threats in real-time, significantly reducing the time and effort required to identify and mitigate cyber risks. The system’s microservice architecture and private blockchain further enhances its adaptability, scalability, and security, making it an ideal solution for modern cybersecurity challenges. </a:t>
            </a:r>
            <a:endParaRPr lang="en-US" sz="1400" dirty="0">
              <a:latin typeface="Baskerville Old Face" panose="02020602080505020303"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03FAF75-F27E-EAED-86FC-5B3AD1D28DD4}"/>
              </a:ext>
            </a:extLst>
          </p:cNvPr>
          <p:cNvSpPr txBox="1"/>
          <p:nvPr/>
        </p:nvSpPr>
        <p:spPr>
          <a:xfrm>
            <a:off x="389793" y="931832"/>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ASTRA: A Cyber-Threat Intelligence Framework for Advanced Security Threat Response and Analysis</a:t>
            </a:r>
          </a:p>
        </p:txBody>
      </p:sp>
      <p:sp>
        <p:nvSpPr>
          <p:cNvPr id="12" name="TextBox 11">
            <a:extLst>
              <a:ext uri="{FF2B5EF4-FFF2-40B4-BE49-F238E27FC236}">
                <a16:creationId xmlns:a16="http://schemas.microsoft.com/office/drawing/2014/main" id="{ED916797-6984-F7F8-A08B-084381FAE184}"/>
              </a:ext>
            </a:extLst>
          </p:cNvPr>
          <p:cNvSpPr txBox="1"/>
          <p:nvPr/>
        </p:nvSpPr>
        <p:spPr>
          <a:xfrm>
            <a:off x="389793" y="7659284"/>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    S</a:t>
            </a:r>
            <a:r>
              <a:rPr lang="en-US" sz="2800" b="1" spc="-150" dirty="0">
                <a:solidFill>
                  <a:srgbClr val="AA3A1C"/>
                </a:solidFill>
                <a:latin typeface="Hanken Grotesk SemiBold" pitchFamily="2" charset="0"/>
              </a:rPr>
              <a:t>ystem deployed at National Remote Sensing Centre (NRSC, ISRO), 2024 at Hyderabad, India</a:t>
            </a:r>
            <a:endParaRPr lang="en-US" sz="2800" b="1" spc="-300" dirty="0">
              <a:solidFill>
                <a:srgbClr val="AA3A1C"/>
              </a:solidFill>
              <a:latin typeface="Hanken Grotesk SemiBold" pitchFamily="2" charset="0"/>
            </a:endParaRPr>
          </a:p>
        </p:txBody>
      </p:sp>
      <p:sp>
        <p:nvSpPr>
          <p:cNvPr id="13" name="TextBox 12">
            <a:extLst>
              <a:ext uri="{FF2B5EF4-FFF2-40B4-BE49-F238E27FC236}">
                <a16:creationId xmlns:a16="http://schemas.microsoft.com/office/drawing/2014/main" id="{C45D50D5-EB50-5258-1DC8-8DC6D2699726}"/>
              </a:ext>
            </a:extLst>
          </p:cNvPr>
          <p:cNvSpPr txBox="1"/>
          <p:nvPr/>
        </p:nvSpPr>
        <p:spPr>
          <a:xfrm>
            <a:off x="389793" y="7659284"/>
            <a:ext cx="361769" cy="707886"/>
          </a:xfrm>
          <a:prstGeom prst="rect">
            <a:avLst/>
          </a:prstGeom>
          <a:noFill/>
        </p:spPr>
        <p:txBody>
          <a:bodyPr wrap="square" rtlCol="0">
            <a:spAutoFit/>
          </a:bodyPr>
          <a:lstStyle/>
          <a:p>
            <a:pPr algn="just"/>
            <a:r>
              <a:rPr lang="en-US" sz="4000" b="1" spc="-300" dirty="0">
                <a:solidFill>
                  <a:srgbClr val="AA3A1C"/>
                </a:solidFill>
                <a:latin typeface="Hanken Grotesk SemiBold" pitchFamily="2" charset="0"/>
              </a:rPr>
              <a:t>*</a:t>
            </a:r>
          </a:p>
        </p:txBody>
      </p:sp>
    </p:spTree>
    <p:extLst>
      <p:ext uri="{BB962C8B-B14F-4D97-AF65-F5344CB8AC3E}">
        <p14:creationId xmlns:p14="http://schemas.microsoft.com/office/powerpoint/2010/main" val="2901364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3B67B-A240-9E56-24DB-C5C30FE530F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3D26074-98D5-B96C-A5BC-F0BE3B2D9AE8}"/>
              </a:ext>
            </a:extLst>
          </p:cNvPr>
          <p:cNvSpPr txBox="1"/>
          <p:nvPr/>
        </p:nvSpPr>
        <p:spPr>
          <a:xfrm>
            <a:off x="389793" y="3070071"/>
            <a:ext cx="6078414" cy="2677656"/>
          </a:xfrm>
          <a:prstGeom prst="rect">
            <a:avLst/>
          </a:prstGeom>
          <a:noFill/>
        </p:spPr>
        <p:txBody>
          <a:bodyPr wrap="square" rtlCol="0">
            <a:spAutoFit/>
          </a:bodyPr>
          <a:lstStyle/>
          <a:p>
            <a:r>
              <a:rPr lang="en-US" sz="1400" i="1" dirty="0">
                <a:latin typeface="Baskerville Old Face" panose="02020602080505020303" pitchFamily="18" charset="0"/>
                <a:cs typeface="Times New Roman" panose="02020603050405020304" pitchFamily="18" charset="0"/>
              </a:rPr>
              <a:t>Abstract</a:t>
            </a:r>
            <a:r>
              <a:rPr lang="en-US" sz="1400" dirty="0">
                <a:latin typeface="Baskerville Old Face" panose="02020602080505020303" pitchFamily="18" charset="0"/>
                <a:cs typeface="Times New Roman" panose="02020603050405020304" pitchFamily="18" charset="0"/>
              </a:rPr>
              <a:t>—</a:t>
            </a:r>
            <a:r>
              <a:rPr lang="en-US" sz="1400" dirty="0">
                <a:latin typeface="Baskerville Old Face" panose="02020602080505020303" pitchFamily="18" charset="0"/>
              </a:rPr>
              <a:t>With the data being circulated and stored on the internet increasing, the number of data breaches occurring globally has seen a drastic rise and it is happening in an organized manner. This possess a serious threat to both individual and organizations. Though the organizations have a security team to monitor the breaches, the individuals are unaware that their data being breached is a serious issue. This paper addresses the above issue through detection using snowball sampling and preserving privacy using Blockchain technology. Efforts have been taken to validate this system through threat modelling by employing misuse case diagrams and attack trees.</a:t>
            </a:r>
          </a:p>
          <a:p>
            <a:endParaRPr lang="en-US" sz="1400" dirty="0">
              <a:latin typeface="Baskerville Old Face" panose="02020602080505020303" pitchFamily="18" charset="0"/>
              <a:cs typeface="Times New Roman" panose="02020603050405020304" pitchFamily="18" charset="0"/>
            </a:endParaRPr>
          </a:p>
          <a:p>
            <a:r>
              <a:rPr lang="en-US" sz="1400" i="1" dirty="0">
                <a:latin typeface="Baskerville Old Face" panose="02020602080505020303" pitchFamily="18" charset="0"/>
                <a:cs typeface="Times New Roman" panose="02020603050405020304" pitchFamily="18" charset="0"/>
              </a:rPr>
              <a:t>Index Terms</a:t>
            </a:r>
            <a:r>
              <a:rPr lang="en-US" sz="1400" dirty="0">
                <a:latin typeface="Baskerville Old Face" panose="02020602080505020303" pitchFamily="18" charset="0"/>
                <a:cs typeface="Times New Roman" panose="02020603050405020304" pitchFamily="18" charset="0"/>
              </a:rPr>
              <a:t>—</a:t>
            </a:r>
            <a:r>
              <a:rPr lang="en-US" sz="1400" dirty="0">
                <a:latin typeface="Baskerville Old Face" panose="02020602080505020303" pitchFamily="18" charset="0"/>
              </a:rPr>
              <a:t>Data Breach, Snowball Sampling, Blockchain, Attack Tree, Web Scraping</a:t>
            </a:r>
            <a:endParaRPr lang="en-US" sz="1400" dirty="0">
              <a:latin typeface="Baskerville Old Face" panose="02020602080505020303"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043AB2A-E2A6-D1C9-DAB1-292EE64FCCBB}"/>
              </a:ext>
            </a:extLst>
          </p:cNvPr>
          <p:cNvSpPr txBox="1"/>
          <p:nvPr/>
        </p:nvSpPr>
        <p:spPr>
          <a:xfrm>
            <a:off x="389793" y="7659284"/>
            <a:ext cx="6078414" cy="1384995"/>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    International Conference on High Performance and Intelligent Computing (ICHPIC), 2022 at Coimbatore, India</a:t>
            </a:r>
          </a:p>
        </p:txBody>
      </p:sp>
      <p:sp>
        <p:nvSpPr>
          <p:cNvPr id="9" name="TextBox 8">
            <a:extLst>
              <a:ext uri="{FF2B5EF4-FFF2-40B4-BE49-F238E27FC236}">
                <a16:creationId xmlns:a16="http://schemas.microsoft.com/office/drawing/2014/main" id="{8B67780C-1592-5099-5D4D-65E24B22355D}"/>
              </a:ext>
            </a:extLst>
          </p:cNvPr>
          <p:cNvSpPr txBox="1"/>
          <p:nvPr/>
        </p:nvSpPr>
        <p:spPr>
          <a:xfrm>
            <a:off x="389793" y="7659284"/>
            <a:ext cx="361769" cy="707886"/>
          </a:xfrm>
          <a:prstGeom prst="rect">
            <a:avLst/>
          </a:prstGeom>
          <a:noFill/>
        </p:spPr>
        <p:txBody>
          <a:bodyPr wrap="square" rtlCol="0">
            <a:spAutoFit/>
          </a:bodyPr>
          <a:lstStyle/>
          <a:p>
            <a:pPr algn="just"/>
            <a:r>
              <a:rPr lang="en-US" sz="4000" b="1" spc="-300" dirty="0">
                <a:solidFill>
                  <a:srgbClr val="AA3A1C"/>
                </a:solidFill>
                <a:latin typeface="Hanken Grotesk SemiBold" pitchFamily="2" charset="0"/>
              </a:rPr>
              <a:t>*</a:t>
            </a:r>
          </a:p>
        </p:txBody>
      </p:sp>
      <p:sp>
        <p:nvSpPr>
          <p:cNvPr id="3" name="TextBox 2">
            <a:extLst>
              <a:ext uri="{FF2B5EF4-FFF2-40B4-BE49-F238E27FC236}">
                <a16:creationId xmlns:a16="http://schemas.microsoft.com/office/drawing/2014/main" id="{E5D24BA8-9045-9F90-9121-DF5B5720484C}"/>
              </a:ext>
            </a:extLst>
          </p:cNvPr>
          <p:cNvSpPr txBox="1"/>
          <p:nvPr/>
        </p:nvSpPr>
        <p:spPr>
          <a:xfrm>
            <a:off x="389793" y="931832"/>
            <a:ext cx="6078414" cy="954107"/>
          </a:xfrm>
          <a:prstGeom prst="rect">
            <a:avLst/>
          </a:prstGeom>
          <a:noFill/>
        </p:spPr>
        <p:txBody>
          <a:bodyPr wrap="square" rtlCol="0">
            <a:spAutoFit/>
          </a:bodyPr>
          <a:lstStyle/>
          <a:p>
            <a:pPr algn="just"/>
            <a:r>
              <a:rPr lang="en-US" sz="2800" b="1" spc="-300" dirty="0">
                <a:solidFill>
                  <a:srgbClr val="AA3A1C"/>
                </a:solidFill>
                <a:latin typeface="Hanken Grotesk SemiBold" pitchFamily="2" charset="0"/>
              </a:rPr>
              <a:t>Leveraging Detection Of Data Breaches By Applying Snowball Sampling</a:t>
            </a:r>
          </a:p>
        </p:txBody>
      </p:sp>
      <p:sp>
        <p:nvSpPr>
          <p:cNvPr id="2" name="TextBox 1">
            <a:extLst>
              <a:ext uri="{FF2B5EF4-FFF2-40B4-BE49-F238E27FC236}">
                <a16:creationId xmlns:a16="http://schemas.microsoft.com/office/drawing/2014/main" id="{5EF4D138-9FBD-797D-DE9D-F5E957596DAD}"/>
              </a:ext>
            </a:extLst>
          </p:cNvPr>
          <p:cNvSpPr txBox="1"/>
          <p:nvPr/>
        </p:nvSpPr>
        <p:spPr>
          <a:xfrm>
            <a:off x="751562" y="6394058"/>
            <a:ext cx="5716645" cy="707886"/>
          </a:xfrm>
          <a:prstGeom prst="rect">
            <a:avLst/>
          </a:prstGeom>
          <a:noFill/>
        </p:spPr>
        <p:txBody>
          <a:bodyPr wrap="square" rtlCol="0">
            <a:spAutoFit/>
          </a:bodyPr>
          <a:lstStyle/>
          <a:p>
            <a:pPr algn="r"/>
            <a:r>
              <a:rPr lang="en-US" sz="2000" b="1" spc="-150" dirty="0">
                <a:solidFill>
                  <a:srgbClr val="AA3A1C"/>
                </a:solidFill>
                <a:latin typeface="Hanken Grotesk SemiBold" pitchFamily="2" charset="0"/>
              </a:rPr>
              <a:t>// with Dr. G. R. Karpagam, Mithilesh E N, Santhoshi R and Subhasri Shreya S L</a:t>
            </a:r>
          </a:p>
        </p:txBody>
      </p:sp>
    </p:spTree>
    <p:extLst>
      <p:ext uri="{BB962C8B-B14F-4D97-AF65-F5344CB8AC3E}">
        <p14:creationId xmlns:p14="http://schemas.microsoft.com/office/powerpoint/2010/main" val="3181247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70CA6-E575-BF0F-F960-8851FCB1D4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451F727-AD00-B53E-5F35-C68C10F0209E}"/>
              </a:ext>
            </a:extLst>
          </p:cNvPr>
          <p:cNvSpPr txBox="1"/>
          <p:nvPr/>
        </p:nvSpPr>
        <p:spPr>
          <a:xfrm>
            <a:off x="323710" y="472711"/>
            <a:ext cx="3637557" cy="1446550"/>
          </a:xfrm>
          <a:prstGeom prst="rect">
            <a:avLst/>
          </a:prstGeom>
          <a:noFill/>
        </p:spPr>
        <p:txBody>
          <a:bodyPr wrap="square" rtlCol="0">
            <a:spAutoFit/>
          </a:bodyPr>
          <a:lstStyle/>
          <a:p>
            <a:r>
              <a:rPr lang="en-US" sz="4400" b="1" spc="-300" dirty="0">
                <a:solidFill>
                  <a:srgbClr val="AA3A1C"/>
                </a:solidFill>
                <a:latin typeface="Hanken Grotesk SemiBold" pitchFamily="2" charset="0"/>
              </a:rPr>
              <a:t>COMMUNITY INVOLVEMENT</a:t>
            </a:r>
          </a:p>
        </p:txBody>
      </p:sp>
      <p:sp>
        <p:nvSpPr>
          <p:cNvPr id="2" name="TextBox 1">
            <a:extLst>
              <a:ext uri="{FF2B5EF4-FFF2-40B4-BE49-F238E27FC236}">
                <a16:creationId xmlns:a16="http://schemas.microsoft.com/office/drawing/2014/main" id="{799358D6-F679-BF80-D192-E9A7917632A9}"/>
              </a:ext>
            </a:extLst>
          </p:cNvPr>
          <p:cNvSpPr txBox="1"/>
          <p:nvPr/>
        </p:nvSpPr>
        <p:spPr>
          <a:xfrm>
            <a:off x="3837964" y="1133273"/>
            <a:ext cx="484428" cy="1107996"/>
          </a:xfrm>
          <a:prstGeom prst="rect">
            <a:avLst/>
          </a:prstGeom>
          <a:noFill/>
        </p:spPr>
        <p:txBody>
          <a:bodyPr wrap="none" rtlCol="0">
            <a:spAutoFit/>
          </a:bodyPr>
          <a:lstStyle/>
          <a:p>
            <a:r>
              <a:rPr lang="en-US" sz="6600" b="1" spc="-300" dirty="0">
                <a:solidFill>
                  <a:srgbClr val="AA3A1C"/>
                </a:solidFill>
                <a:latin typeface="Hanken Grotesk SemiBold" pitchFamily="2" charset="0"/>
              </a:rPr>
              <a:t>*</a:t>
            </a:r>
          </a:p>
        </p:txBody>
      </p:sp>
      <p:sp>
        <p:nvSpPr>
          <p:cNvPr id="3" name="TextBox 2">
            <a:extLst>
              <a:ext uri="{FF2B5EF4-FFF2-40B4-BE49-F238E27FC236}">
                <a16:creationId xmlns:a16="http://schemas.microsoft.com/office/drawing/2014/main" id="{D5D98FDB-D7EC-4BD3-19B2-5EADEAA1AE52}"/>
              </a:ext>
            </a:extLst>
          </p:cNvPr>
          <p:cNvSpPr txBox="1"/>
          <p:nvPr/>
        </p:nvSpPr>
        <p:spPr>
          <a:xfrm>
            <a:off x="5168328" y="8381902"/>
            <a:ext cx="1175322"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(7)</a:t>
            </a:r>
          </a:p>
        </p:txBody>
      </p:sp>
      <p:grpSp>
        <p:nvGrpSpPr>
          <p:cNvPr id="38" name="Group 37">
            <a:extLst>
              <a:ext uri="{FF2B5EF4-FFF2-40B4-BE49-F238E27FC236}">
                <a16:creationId xmlns:a16="http://schemas.microsoft.com/office/drawing/2014/main" id="{B65470A0-AC06-3EC2-BD90-F71D9766A282}"/>
              </a:ext>
            </a:extLst>
          </p:cNvPr>
          <p:cNvGrpSpPr/>
          <p:nvPr/>
        </p:nvGrpSpPr>
        <p:grpSpPr>
          <a:xfrm>
            <a:off x="349757" y="2182954"/>
            <a:ext cx="6192962" cy="1384995"/>
            <a:chOff x="475662" y="2356546"/>
            <a:chExt cx="6192962" cy="1384995"/>
          </a:xfrm>
        </p:grpSpPr>
        <p:pic>
          <p:nvPicPr>
            <p:cNvPr id="18" name="Picture 17">
              <a:extLst>
                <a:ext uri="{FF2B5EF4-FFF2-40B4-BE49-F238E27FC236}">
                  <a16:creationId xmlns:a16="http://schemas.microsoft.com/office/drawing/2014/main" id="{376A328E-AB17-EF77-331C-CAC31CDE6C3C}"/>
                </a:ext>
              </a:extLst>
            </p:cNvPr>
            <p:cNvPicPr>
              <a:picLocks noChangeAspect="1"/>
            </p:cNvPicPr>
            <p:nvPr/>
          </p:nvPicPr>
          <p:blipFill>
            <a:blip r:embed="rId2"/>
            <a:stretch>
              <a:fillRect/>
            </a:stretch>
          </p:blipFill>
          <p:spPr>
            <a:xfrm>
              <a:off x="475662" y="2517732"/>
              <a:ext cx="1071630" cy="1062624"/>
            </a:xfrm>
            <a:prstGeom prst="rect">
              <a:avLst/>
            </a:prstGeom>
          </p:spPr>
        </p:pic>
        <p:sp>
          <p:nvSpPr>
            <p:cNvPr id="19" name="TextBox 18">
              <a:extLst>
                <a:ext uri="{FF2B5EF4-FFF2-40B4-BE49-F238E27FC236}">
                  <a16:creationId xmlns:a16="http://schemas.microsoft.com/office/drawing/2014/main" id="{421AFE80-8C6C-67AB-4C69-AA440D41CA0D}"/>
                </a:ext>
              </a:extLst>
            </p:cNvPr>
            <p:cNvSpPr txBox="1"/>
            <p:nvPr/>
          </p:nvSpPr>
          <p:spPr>
            <a:xfrm>
              <a:off x="1678488" y="2356546"/>
              <a:ext cx="4990136" cy="1384995"/>
            </a:xfrm>
            <a:prstGeom prst="rect">
              <a:avLst/>
            </a:prstGeom>
            <a:noFill/>
          </p:spPr>
          <p:txBody>
            <a:bodyPr wrap="square" rtlCol="0">
              <a:spAutoFit/>
            </a:bodyPr>
            <a:lstStyle/>
            <a:p>
              <a:pPr algn="just"/>
              <a:r>
                <a:rPr lang="en-US" sz="2800" b="1" spc="-300" dirty="0">
                  <a:latin typeface="Hanken Grotesk SemiBold" pitchFamily="2" charset="0"/>
                </a:rPr>
                <a:t>Founder, The Eye – Student-Run Society for Cybersecurity at PSG College of Technology</a:t>
              </a:r>
            </a:p>
          </p:txBody>
        </p:sp>
      </p:grpSp>
      <p:grpSp>
        <p:nvGrpSpPr>
          <p:cNvPr id="37" name="Group 36">
            <a:extLst>
              <a:ext uri="{FF2B5EF4-FFF2-40B4-BE49-F238E27FC236}">
                <a16:creationId xmlns:a16="http://schemas.microsoft.com/office/drawing/2014/main" id="{AC2E4F7B-F0E5-F58F-EA3C-426D0C6AD358}"/>
              </a:ext>
            </a:extLst>
          </p:cNvPr>
          <p:cNvGrpSpPr/>
          <p:nvPr/>
        </p:nvGrpSpPr>
        <p:grpSpPr>
          <a:xfrm>
            <a:off x="542077" y="3737327"/>
            <a:ext cx="5816142" cy="1384995"/>
            <a:chOff x="475662" y="4222588"/>
            <a:chExt cx="5816142" cy="1384995"/>
          </a:xfrm>
        </p:grpSpPr>
        <p:sp>
          <p:nvSpPr>
            <p:cNvPr id="20" name="TextBox 19">
              <a:extLst>
                <a:ext uri="{FF2B5EF4-FFF2-40B4-BE49-F238E27FC236}">
                  <a16:creationId xmlns:a16="http://schemas.microsoft.com/office/drawing/2014/main" id="{9F19B4A2-4D7B-3D09-5C58-671EB3E08937}"/>
                </a:ext>
              </a:extLst>
            </p:cNvPr>
            <p:cNvSpPr txBox="1"/>
            <p:nvPr/>
          </p:nvSpPr>
          <p:spPr>
            <a:xfrm>
              <a:off x="475662" y="4222588"/>
              <a:ext cx="4744512" cy="1384995"/>
            </a:xfrm>
            <a:prstGeom prst="rect">
              <a:avLst/>
            </a:prstGeom>
            <a:noFill/>
          </p:spPr>
          <p:txBody>
            <a:bodyPr wrap="square" rtlCol="0">
              <a:spAutoFit/>
            </a:bodyPr>
            <a:lstStyle/>
            <a:p>
              <a:pPr algn="just"/>
              <a:r>
                <a:rPr lang="en-US" sz="2800" b="1" spc="-300" dirty="0">
                  <a:latin typeface="Hanken Grotesk SemiBold" pitchFamily="2" charset="0"/>
                </a:rPr>
                <a:t>President, Cybersecurity Club at New York University, Tandon School of Engineering</a:t>
              </a:r>
            </a:p>
          </p:txBody>
        </p:sp>
        <p:pic>
          <p:nvPicPr>
            <p:cNvPr id="26" name="Picture 25">
              <a:extLst>
                <a:ext uri="{FF2B5EF4-FFF2-40B4-BE49-F238E27FC236}">
                  <a16:creationId xmlns:a16="http://schemas.microsoft.com/office/drawing/2014/main" id="{21AFAFB5-C13D-8307-D5FD-7EE88A0AF674}"/>
                </a:ext>
              </a:extLst>
            </p:cNvPr>
            <p:cNvPicPr>
              <a:picLocks noChangeAspect="1"/>
            </p:cNvPicPr>
            <p:nvPr/>
          </p:nvPicPr>
          <p:blipFill>
            <a:blip r:embed="rId3"/>
            <a:stretch>
              <a:fillRect/>
            </a:stretch>
          </p:blipFill>
          <p:spPr>
            <a:xfrm>
              <a:off x="5220174" y="4417185"/>
              <a:ext cx="1071630" cy="1071630"/>
            </a:xfrm>
            <a:prstGeom prst="rect">
              <a:avLst/>
            </a:prstGeom>
          </p:spPr>
        </p:pic>
      </p:grpSp>
      <p:grpSp>
        <p:nvGrpSpPr>
          <p:cNvPr id="34" name="Group 33">
            <a:extLst>
              <a:ext uri="{FF2B5EF4-FFF2-40B4-BE49-F238E27FC236}">
                <a16:creationId xmlns:a16="http://schemas.microsoft.com/office/drawing/2014/main" id="{C677C8A3-2C19-4766-16EE-719F1030380B}"/>
              </a:ext>
            </a:extLst>
          </p:cNvPr>
          <p:cNvGrpSpPr/>
          <p:nvPr/>
        </p:nvGrpSpPr>
        <p:grpSpPr>
          <a:xfrm>
            <a:off x="362818" y="5291700"/>
            <a:ext cx="6102677" cy="1384995"/>
            <a:chOff x="349757" y="5687630"/>
            <a:chExt cx="6102677" cy="1384995"/>
          </a:xfrm>
        </p:grpSpPr>
        <p:pic>
          <p:nvPicPr>
            <p:cNvPr id="28" name="Picture 27">
              <a:extLst>
                <a:ext uri="{FF2B5EF4-FFF2-40B4-BE49-F238E27FC236}">
                  <a16:creationId xmlns:a16="http://schemas.microsoft.com/office/drawing/2014/main" id="{C6AD6566-5F41-FFC7-02CA-0D700349869B}"/>
                </a:ext>
              </a:extLst>
            </p:cNvPr>
            <p:cNvPicPr>
              <a:picLocks noChangeAspect="1"/>
            </p:cNvPicPr>
            <p:nvPr/>
          </p:nvPicPr>
          <p:blipFill>
            <a:blip r:embed="rId4"/>
            <a:stretch>
              <a:fillRect/>
            </a:stretch>
          </p:blipFill>
          <p:spPr>
            <a:xfrm>
              <a:off x="349757" y="5718408"/>
              <a:ext cx="1323440" cy="1323440"/>
            </a:xfrm>
            <a:prstGeom prst="rect">
              <a:avLst/>
            </a:prstGeom>
          </p:spPr>
        </p:pic>
        <p:sp>
          <p:nvSpPr>
            <p:cNvPr id="29" name="TextBox 28">
              <a:extLst>
                <a:ext uri="{FF2B5EF4-FFF2-40B4-BE49-F238E27FC236}">
                  <a16:creationId xmlns:a16="http://schemas.microsoft.com/office/drawing/2014/main" id="{F87875C9-6354-FCBF-A73A-4BD75787BB0B}"/>
                </a:ext>
              </a:extLst>
            </p:cNvPr>
            <p:cNvSpPr txBox="1"/>
            <p:nvPr/>
          </p:nvSpPr>
          <p:spPr>
            <a:xfrm>
              <a:off x="1707922" y="5687630"/>
              <a:ext cx="4744512" cy="1384995"/>
            </a:xfrm>
            <a:prstGeom prst="rect">
              <a:avLst/>
            </a:prstGeom>
            <a:noFill/>
          </p:spPr>
          <p:txBody>
            <a:bodyPr wrap="square" rtlCol="0">
              <a:spAutoFit/>
            </a:bodyPr>
            <a:lstStyle/>
            <a:p>
              <a:pPr algn="just"/>
              <a:r>
                <a:rPr lang="en-US" sz="2800" b="1" spc="-300" dirty="0">
                  <a:latin typeface="Hanken Grotesk SemiBold" pitchFamily="2" charset="0"/>
                </a:rPr>
                <a:t>Board Member, the Offensive Security, Incident Response, Internet Security Lab (the OSIRIS Lab), NYU</a:t>
              </a:r>
            </a:p>
          </p:txBody>
        </p:sp>
      </p:grpSp>
      <p:grpSp>
        <p:nvGrpSpPr>
          <p:cNvPr id="36" name="Group 35">
            <a:extLst>
              <a:ext uri="{FF2B5EF4-FFF2-40B4-BE49-F238E27FC236}">
                <a16:creationId xmlns:a16="http://schemas.microsoft.com/office/drawing/2014/main" id="{2DB96022-5663-E918-97D6-87127892FDED}"/>
              </a:ext>
            </a:extLst>
          </p:cNvPr>
          <p:cNvGrpSpPr/>
          <p:nvPr/>
        </p:nvGrpSpPr>
        <p:grpSpPr>
          <a:xfrm>
            <a:off x="349757" y="8602189"/>
            <a:ext cx="5472647" cy="779566"/>
            <a:chOff x="349757" y="8602189"/>
            <a:chExt cx="5472647" cy="779566"/>
          </a:xfrm>
        </p:grpSpPr>
        <p:pic>
          <p:nvPicPr>
            <p:cNvPr id="30" name="Picture 29">
              <a:extLst>
                <a:ext uri="{FF2B5EF4-FFF2-40B4-BE49-F238E27FC236}">
                  <a16:creationId xmlns:a16="http://schemas.microsoft.com/office/drawing/2014/main" id="{A6ACCBBA-2F0E-5765-0001-BB3AC0F7618B}"/>
                </a:ext>
              </a:extLst>
            </p:cNvPr>
            <p:cNvPicPr>
              <a:picLocks noChangeAspect="1"/>
            </p:cNvPicPr>
            <p:nvPr/>
          </p:nvPicPr>
          <p:blipFill>
            <a:blip r:embed="rId5"/>
            <a:stretch>
              <a:fillRect/>
            </a:stretch>
          </p:blipFill>
          <p:spPr>
            <a:xfrm>
              <a:off x="349757" y="8602189"/>
              <a:ext cx="1382210" cy="779566"/>
            </a:xfrm>
            <a:prstGeom prst="rect">
              <a:avLst/>
            </a:prstGeom>
          </p:spPr>
        </p:pic>
        <p:sp>
          <p:nvSpPr>
            <p:cNvPr id="31" name="TextBox 30">
              <a:extLst>
                <a:ext uri="{FF2B5EF4-FFF2-40B4-BE49-F238E27FC236}">
                  <a16:creationId xmlns:a16="http://schemas.microsoft.com/office/drawing/2014/main" id="{91822494-BD2D-4541-2DB7-C1F708782393}"/>
                </a:ext>
              </a:extLst>
            </p:cNvPr>
            <p:cNvSpPr txBox="1"/>
            <p:nvPr/>
          </p:nvSpPr>
          <p:spPr>
            <a:xfrm>
              <a:off x="1077892" y="8730362"/>
              <a:ext cx="4744512" cy="523220"/>
            </a:xfrm>
            <a:prstGeom prst="rect">
              <a:avLst/>
            </a:prstGeom>
            <a:noFill/>
          </p:spPr>
          <p:txBody>
            <a:bodyPr wrap="square" rtlCol="0">
              <a:spAutoFit/>
            </a:bodyPr>
            <a:lstStyle/>
            <a:p>
              <a:pPr algn="ctr"/>
              <a:r>
                <a:rPr lang="en-US" sz="2800" b="1" spc="-300" dirty="0">
                  <a:latin typeface="Hanken Grotesk SemiBold" pitchFamily="2" charset="0"/>
                </a:rPr>
                <a:t>Student Member, IEEE</a:t>
              </a:r>
            </a:p>
          </p:txBody>
        </p:sp>
      </p:grpSp>
      <p:grpSp>
        <p:nvGrpSpPr>
          <p:cNvPr id="35" name="Group 34">
            <a:extLst>
              <a:ext uri="{FF2B5EF4-FFF2-40B4-BE49-F238E27FC236}">
                <a16:creationId xmlns:a16="http://schemas.microsoft.com/office/drawing/2014/main" id="{A83D0726-7BF3-B9BD-3B5D-E5D8B83B67B8}"/>
              </a:ext>
            </a:extLst>
          </p:cNvPr>
          <p:cNvGrpSpPr/>
          <p:nvPr/>
        </p:nvGrpSpPr>
        <p:grpSpPr>
          <a:xfrm>
            <a:off x="466101" y="6959825"/>
            <a:ext cx="5968094" cy="1384995"/>
            <a:chOff x="323710" y="7186417"/>
            <a:chExt cx="5968094" cy="1384995"/>
          </a:xfrm>
        </p:grpSpPr>
        <p:pic>
          <p:nvPicPr>
            <p:cNvPr id="32" name="Picture 31">
              <a:extLst>
                <a:ext uri="{FF2B5EF4-FFF2-40B4-BE49-F238E27FC236}">
                  <a16:creationId xmlns:a16="http://schemas.microsoft.com/office/drawing/2014/main" id="{5DA8DE2A-2DC6-F124-E866-3D892361EB46}"/>
                </a:ext>
              </a:extLst>
            </p:cNvPr>
            <p:cNvPicPr>
              <a:picLocks noChangeAspect="1"/>
            </p:cNvPicPr>
            <p:nvPr/>
          </p:nvPicPr>
          <p:blipFill>
            <a:blip r:embed="rId6"/>
            <a:stretch>
              <a:fillRect/>
            </a:stretch>
          </p:blipFill>
          <p:spPr>
            <a:xfrm>
              <a:off x="4375322" y="7467492"/>
              <a:ext cx="1916482" cy="684817"/>
            </a:xfrm>
            <a:prstGeom prst="rect">
              <a:avLst/>
            </a:prstGeom>
          </p:spPr>
        </p:pic>
        <p:sp>
          <p:nvSpPr>
            <p:cNvPr id="33" name="TextBox 32">
              <a:extLst>
                <a:ext uri="{FF2B5EF4-FFF2-40B4-BE49-F238E27FC236}">
                  <a16:creationId xmlns:a16="http://schemas.microsoft.com/office/drawing/2014/main" id="{00204586-DB41-B565-07C4-103227469D7A}"/>
                </a:ext>
              </a:extLst>
            </p:cNvPr>
            <p:cNvSpPr txBox="1"/>
            <p:nvPr/>
          </p:nvSpPr>
          <p:spPr>
            <a:xfrm>
              <a:off x="323710" y="7186417"/>
              <a:ext cx="3998682" cy="1384995"/>
            </a:xfrm>
            <a:prstGeom prst="rect">
              <a:avLst/>
            </a:prstGeom>
            <a:noFill/>
          </p:spPr>
          <p:txBody>
            <a:bodyPr wrap="square" rtlCol="0">
              <a:spAutoFit/>
            </a:bodyPr>
            <a:lstStyle/>
            <a:p>
              <a:pPr algn="just"/>
              <a:r>
                <a:rPr lang="en-US" sz="2800" b="1" spc="-300" dirty="0">
                  <a:latin typeface="Hanken Grotesk SemiBold" pitchFamily="2" charset="0"/>
                </a:rPr>
                <a:t>Speaker and Member, Open Web Application Security Project (OWASP)</a:t>
              </a:r>
            </a:p>
          </p:txBody>
        </p:sp>
      </p:grpSp>
    </p:spTree>
    <p:extLst>
      <p:ext uri="{BB962C8B-B14F-4D97-AF65-F5344CB8AC3E}">
        <p14:creationId xmlns:p14="http://schemas.microsoft.com/office/powerpoint/2010/main" val="4730805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98C0B-A2D6-889F-B486-6951EBAADB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EB395A7-BEDA-DAEF-05D2-4936CFBA1B74}"/>
              </a:ext>
            </a:extLst>
          </p:cNvPr>
          <p:cNvSpPr txBox="1"/>
          <p:nvPr/>
        </p:nvSpPr>
        <p:spPr>
          <a:xfrm>
            <a:off x="323710" y="472711"/>
            <a:ext cx="3637557" cy="769441"/>
          </a:xfrm>
          <a:prstGeom prst="rect">
            <a:avLst/>
          </a:prstGeom>
          <a:noFill/>
        </p:spPr>
        <p:txBody>
          <a:bodyPr wrap="square" rtlCol="0">
            <a:spAutoFit/>
          </a:bodyPr>
          <a:lstStyle/>
          <a:p>
            <a:r>
              <a:rPr lang="en-US" sz="4400" b="1" spc="-300" dirty="0">
                <a:solidFill>
                  <a:srgbClr val="AA3A1C"/>
                </a:solidFill>
                <a:latin typeface="Hanken Grotesk SemiBold" pitchFamily="2" charset="0"/>
              </a:rPr>
              <a:t>CONTACT ME!</a:t>
            </a:r>
          </a:p>
        </p:txBody>
      </p:sp>
      <p:sp>
        <p:nvSpPr>
          <p:cNvPr id="3" name="TextBox 2">
            <a:extLst>
              <a:ext uri="{FF2B5EF4-FFF2-40B4-BE49-F238E27FC236}">
                <a16:creationId xmlns:a16="http://schemas.microsoft.com/office/drawing/2014/main" id="{F310DB38-9833-2535-6895-2E6C7121319D}"/>
              </a:ext>
            </a:extLst>
          </p:cNvPr>
          <p:cNvSpPr txBox="1"/>
          <p:nvPr/>
        </p:nvSpPr>
        <p:spPr>
          <a:xfrm>
            <a:off x="5168328" y="8381902"/>
            <a:ext cx="1175322" cy="1323439"/>
          </a:xfrm>
          <a:prstGeom prst="rect">
            <a:avLst/>
          </a:prstGeom>
          <a:noFill/>
        </p:spPr>
        <p:txBody>
          <a:bodyPr wrap="none" rtlCol="0">
            <a:spAutoFit/>
          </a:bodyPr>
          <a:lstStyle/>
          <a:p>
            <a:r>
              <a:rPr lang="en-US" sz="8000" b="1" spc="-300" dirty="0">
                <a:solidFill>
                  <a:srgbClr val="AA3A1C"/>
                </a:solidFill>
                <a:latin typeface="Hanken Grotesk SemiBold" pitchFamily="2" charset="0"/>
              </a:rPr>
              <a:t>(8)</a:t>
            </a:r>
          </a:p>
        </p:txBody>
      </p:sp>
      <p:sp>
        <p:nvSpPr>
          <p:cNvPr id="6" name="TextBox 5">
            <a:extLst>
              <a:ext uri="{FF2B5EF4-FFF2-40B4-BE49-F238E27FC236}">
                <a16:creationId xmlns:a16="http://schemas.microsoft.com/office/drawing/2014/main" id="{639FB59F-E82E-1500-4714-0ACE4628987F}"/>
              </a:ext>
            </a:extLst>
          </p:cNvPr>
          <p:cNvSpPr txBox="1"/>
          <p:nvPr/>
        </p:nvSpPr>
        <p:spPr>
          <a:xfrm>
            <a:off x="404157" y="2201901"/>
            <a:ext cx="4444841" cy="461665"/>
          </a:xfrm>
          <a:prstGeom prst="rect">
            <a:avLst/>
          </a:prstGeom>
          <a:noFill/>
        </p:spPr>
        <p:txBody>
          <a:bodyPr wrap="square" rtlCol="0">
            <a:spAutoFit/>
          </a:bodyPr>
          <a:lstStyle/>
          <a:p>
            <a:r>
              <a:rPr lang="en-US" sz="2400" spc="-150" dirty="0">
                <a:latin typeface="Hanken Grotesk SemiBold" pitchFamily="2" charset="0"/>
              </a:rPr>
              <a:t>EMAIL(S):</a:t>
            </a:r>
          </a:p>
        </p:txBody>
      </p:sp>
      <p:sp>
        <p:nvSpPr>
          <p:cNvPr id="7" name="TextBox 6">
            <a:extLst>
              <a:ext uri="{FF2B5EF4-FFF2-40B4-BE49-F238E27FC236}">
                <a16:creationId xmlns:a16="http://schemas.microsoft.com/office/drawing/2014/main" id="{5CB3CB08-9EC9-FD6C-BA07-6FF4C77864C1}"/>
              </a:ext>
            </a:extLst>
          </p:cNvPr>
          <p:cNvSpPr txBox="1"/>
          <p:nvPr/>
        </p:nvSpPr>
        <p:spPr>
          <a:xfrm>
            <a:off x="1084249" y="1740236"/>
            <a:ext cx="5516932" cy="1092607"/>
          </a:xfrm>
          <a:prstGeom prst="rect">
            <a:avLst/>
          </a:prstGeom>
          <a:noFill/>
        </p:spPr>
        <p:txBody>
          <a:bodyPr wrap="square">
            <a:spAutoFit/>
          </a:bodyPr>
          <a:lstStyle/>
          <a:p>
            <a:pPr algn="r"/>
            <a:r>
              <a:rPr lang="en-US" spc="-150" dirty="0">
                <a:latin typeface="Hanken Grotesk SemiBold" pitchFamily="2" charset="0"/>
              </a:rPr>
              <a:t>AADITYA.R@IEEE.ORG</a:t>
            </a:r>
          </a:p>
          <a:p>
            <a:pPr algn="r"/>
            <a:r>
              <a:rPr lang="en-US" spc="-150" dirty="0">
                <a:latin typeface="Hanken Grotesk SemiBold" pitchFamily="2" charset="0"/>
              </a:rPr>
              <a:t>AADITYA.R@NYU.EDU</a:t>
            </a:r>
          </a:p>
          <a:p>
            <a:pPr algn="r"/>
            <a:r>
              <a:rPr lang="en-US" spc="-150" dirty="0">
                <a:latin typeface="Hanken Grotesk SemiBold" pitchFamily="2" charset="0"/>
              </a:rPr>
              <a:t>A@GMAIL.COM</a:t>
            </a:r>
          </a:p>
          <a:p>
            <a:pPr algn="r"/>
            <a:endParaRPr lang="en-US" sz="1100" dirty="0">
              <a:latin typeface="Hanken Grotesk SemiBold" pitchFamily="2" charset="0"/>
            </a:endParaRPr>
          </a:p>
        </p:txBody>
      </p:sp>
      <p:sp>
        <p:nvSpPr>
          <p:cNvPr id="8" name="Rectangle 7">
            <a:extLst>
              <a:ext uri="{FF2B5EF4-FFF2-40B4-BE49-F238E27FC236}">
                <a16:creationId xmlns:a16="http://schemas.microsoft.com/office/drawing/2014/main" id="{9DA86F8B-65B9-587D-9D8F-7C4202E46BC7}"/>
              </a:ext>
            </a:extLst>
          </p:cNvPr>
          <p:cNvSpPr/>
          <p:nvPr/>
        </p:nvSpPr>
        <p:spPr>
          <a:xfrm>
            <a:off x="404157" y="2640706"/>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95B7B66A-DDAE-5BCF-B046-28CC626372A7}"/>
              </a:ext>
            </a:extLst>
          </p:cNvPr>
          <p:cNvSpPr txBox="1"/>
          <p:nvPr/>
        </p:nvSpPr>
        <p:spPr>
          <a:xfrm>
            <a:off x="404156" y="2890337"/>
            <a:ext cx="4444841" cy="461665"/>
          </a:xfrm>
          <a:prstGeom prst="rect">
            <a:avLst/>
          </a:prstGeom>
          <a:noFill/>
        </p:spPr>
        <p:txBody>
          <a:bodyPr wrap="square" rtlCol="0">
            <a:spAutoFit/>
          </a:bodyPr>
          <a:lstStyle/>
          <a:p>
            <a:r>
              <a:rPr lang="en-US" sz="2400" spc="-150" dirty="0">
                <a:latin typeface="Hanken Grotesk SemiBold" pitchFamily="2" charset="0"/>
              </a:rPr>
              <a:t>PHONE(S):</a:t>
            </a:r>
          </a:p>
        </p:txBody>
      </p:sp>
      <p:sp>
        <p:nvSpPr>
          <p:cNvPr id="10" name="TextBox 9">
            <a:extLst>
              <a:ext uri="{FF2B5EF4-FFF2-40B4-BE49-F238E27FC236}">
                <a16:creationId xmlns:a16="http://schemas.microsoft.com/office/drawing/2014/main" id="{9853385F-07D7-DDA3-7191-EC211F61E9EF}"/>
              </a:ext>
            </a:extLst>
          </p:cNvPr>
          <p:cNvSpPr txBox="1"/>
          <p:nvPr/>
        </p:nvSpPr>
        <p:spPr>
          <a:xfrm>
            <a:off x="1084249" y="2656102"/>
            <a:ext cx="5516932" cy="646331"/>
          </a:xfrm>
          <a:prstGeom prst="rect">
            <a:avLst/>
          </a:prstGeom>
          <a:noFill/>
        </p:spPr>
        <p:txBody>
          <a:bodyPr wrap="square">
            <a:spAutoFit/>
          </a:bodyPr>
          <a:lstStyle/>
          <a:p>
            <a:pPr algn="r"/>
            <a:r>
              <a:rPr lang="en-US" spc="-150" dirty="0">
                <a:latin typeface="Hanken Grotesk SemiBold" pitchFamily="2" charset="0"/>
              </a:rPr>
              <a:t>(+91)                            430</a:t>
            </a:r>
          </a:p>
          <a:p>
            <a:pPr algn="r"/>
            <a:r>
              <a:rPr lang="en-US" spc="-150" dirty="0">
                <a:latin typeface="Hanken Grotesk SemiBold" pitchFamily="2" charset="0"/>
              </a:rPr>
              <a:t>(+1)                               28</a:t>
            </a:r>
          </a:p>
        </p:txBody>
      </p:sp>
      <p:sp>
        <p:nvSpPr>
          <p:cNvPr id="11" name="Rectangle 10">
            <a:extLst>
              <a:ext uri="{FF2B5EF4-FFF2-40B4-BE49-F238E27FC236}">
                <a16:creationId xmlns:a16="http://schemas.microsoft.com/office/drawing/2014/main" id="{A66A942A-41E3-21C4-9D38-957C2A4F3626}"/>
              </a:ext>
            </a:extLst>
          </p:cNvPr>
          <p:cNvSpPr/>
          <p:nvPr/>
        </p:nvSpPr>
        <p:spPr>
          <a:xfrm>
            <a:off x="404157" y="3334758"/>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4133A28-E1E2-DA07-2088-37C861BC4E74}"/>
              </a:ext>
            </a:extLst>
          </p:cNvPr>
          <p:cNvSpPr txBox="1"/>
          <p:nvPr/>
        </p:nvSpPr>
        <p:spPr>
          <a:xfrm>
            <a:off x="404156" y="3417345"/>
            <a:ext cx="2234267" cy="461665"/>
          </a:xfrm>
          <a:prstGeom prst="rect">
            <a:avLst/>
          </a:prstGeom>
          <a:noFill/>
        </p:spPr>
        <p:txBody>
          <a:bodyPr wrap="square" rtlCol="0">
            <a:spAutoFit/>
          </a:bodyPr>
          <a:lstStyle/>
          <a:p>
            <a:r>
              <a:rPr lang="en-US" sz="2400" spc="-150" dirty="0">
                <a:latin typeface="Hanken Grotesk SemiBold" pitchFamily="2" charset="0"/>
              </a:rPr>
              <a:t>WEBSITE(S):</a:t>
            </a:r>
          </a:p>
        </p:txBody>
      </p:sp>
      <p:sp>
        <p:nvSpPr>
          <p:cNvPr id="13" name="TextBox 12">
            <a:extLst>
              <a:ext uri="{FF2B5EF4-FFF2-40B4-BE49-F238E27FC236}">
                <a16:creationId xmlns:a16="http://schemas.microsoft.com/office/drawing/2014/main" id="{7E9AAFCE-CA68-E6D5-9FAD-5A6959827D21}"/>
              </a:ext>
            </a:extLst>
          </p:cNvPr>
          <p:cNvSpPr txBox="1"/>
          <p:nvPr/>
        </p:nvSpPr>
        <p:spPr>
          <a:xfrm>
            <a:off x="1084249" y="3502655"/>
            <a:ext cx="5516932" cy="369332"/>
          </a:xfrm>
          <a:prstGeom prst="rect">
            <a:avLst/>
          </a:prstGeom>
          <a:noFill/>
        </p:spPr>
        <p:txBody>
          <a:bodyPr wrap="square">
            <a:spAutoFit/>
          </a:bodyPr>
          <a:lstStyle/>
          <a:p>
            <a:pPr algn="r"/>
            <a:r>
              <a:rPr lang="en-US" spc="-150" dirty="0">
                <a:latin typeface="Hanken Grotesk SemiBold" pitchFamily="2" charset="0"/>
              </a:rPr>
              <a:t>AADITYA.INTELLX.IN</a:t>
            </a:r>
          </a:p>
        </p:txBody>
      </p:sp>
      <p:sp>
        <p:nvSpPr>
          <p:cNvPr id="14" name="Rectangle 13">
            <a:extLst>
              <a:ext uri="{FF2B5EF4-FFF2-40B4-BE49-F238E27FC236}">
                <a16:creationId xmlns:a16="http://schemas.microsoft.com/office/drawing/2014/main" id="{3C7D055B-3820-C427-0A89-7A5FD1D9E435}"/>
              </a:ext>
            </a:extLst>
          </p:cNvPr>
          <p:cNvSpPr/>
          <p:nvPr/>
        </p:nvSpPr>
        <p:spPr>
          <a:xfrm>
            <a:off x="404157" y="3846604"/>
            <a:ext cx="6197024" cy="457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8D7F608-1CAA-2BC9-268B-A06CC10B0062}"/>
              </a:ext>
            </a:extLst>
          </p:cNvPr>
          <p:cNvSpPr txBox="1"/>
          <p:nvPr/>
        </p:nvSpPr>
        <p:spPr>
          <a:xfrm>
            <a:off x="3453293" y="2289282"/>
            <a:ext cx="2630466" cy="523220"/>
          </a:xfrm>
          <a:prstGeom prst="rect">
            <a:avLst/>
          </a:prstGeom>
          <a:noFill/>
        </p:spPr>
        <p:txBody>
          <a:bodyPr wrap="square">
            <a:spAutoFit/>
          </a:bodyPr>
          <a:lstStyle/>
          <a:p>
            <a:r>
              <a:rPr lang="en-US" sz="2800" b="1" dirty="0">
                <a:latin typeface="Hanken Grotesk Medium" pitchFamily="2" charset="0"/>
              </a:rPr>
              <a:t>***********</a:t>
            </a:r>
          </a:p>
        </p:txBody>
      </p:sp>
      <p:sp>
        <p:nvSpPr>
          <p:cNvPr id="42" name="TextBox 41">
            <a:extLst>
              <a:ext uri="{FF2B5EF4-FFF2-40B4-BE49-F238E27FC236}">
                <a16:creationId xmlns:a16="http://schemas.microsoft.com/office/drawing/2014/main" id="{45DEAB60-0C2A-FD93-0CE8-CD17A648B773}"/>
              </a:ext>
            </a:extLst>
          </p:cNvPr>
          <p:cNvSpPr txBox="1"/>
          <p:nvPr/>
        </p:nvSpPr>
        <p:spPr>
          <a:xfrm>
            <a:off x="5045725" y="2648728"/>
            <a:ext cx="3432130" cy="523220"/>
          </a:xfrm>
          <a:prstGeom prst="rect">
            <a:avLst/>
          </a:prstGeom>
          <a:noFill/>
        </p:spPr>
        <p:txBody>
          <a:bodyPr wrap="square">
            <a:spAutoFit/>
          </a:bodyPr>
          <a:lstStyle>
            <a:defPPr>
              <a:defRPr lang="en-US"/>
            </a:defPPr>
            <a:lvl1pPr>
              <a:defRPr sz="2800" b="1">
                <a:latin typeface="Hanken Grotesk Medium" pitchFamily="2" charset="0"/>
              </a:defRPr>
            </a:lvl1pPr>
          </a:lstStyle>
          <a:p>
            <a:r>
              <a:rPr lang="en-US" dirty="0"/>
              <a:t>*******</a:t>
            </a:r>
          </a:p>
        </p:txBody>
      </p:sp>
      <p:sp>
        <p:nvSpPr>
          <p:cNvPr id="43" name="TextBox 42">
            <a:extLst>
              <a:ext uri="{FF2B5EF4-FFF2-40B4-BE49-F238E27FC236}">
                <a16:creationId xmlns:a16="http://schemas.microsoft.com/office/drawing/2014/main" id="{CFF9FBA0-DAE2-EB3B-2C46-69EA760EC3A4}"/>
              </a:ext>
            </a:extLst>
          </p:cNvPr>
          <p:cNvSpPr txBox="1"/>
          <p:nvPr/>
        </p:nvSpPr>
        <p:spPr>
          <a:xfrm>
            <a:off x="5033198" y="2936780"/>
            <a:ext cx="3432130" cy="523220"/>
          </a:xfrm>
          <a:prstGeom prst="rect">
            <a:avLst/>
          </a:prstGeom>
          <a:noFill/>
        </p:spPr>
        <p:txBody>
          <a:bodyPr wrap="square">
            <a:spAutoFit/>
          </a:bodyPr>
          <a:lstStyle>
            <a:defPPr>
              <a:defRPr lang="en-US"/>
            </a:defPPr>
            <a:lvl1pPr>
              <a:defRPr sz="2800" b="1">
                <a:latin typeface="Hanken Grotesk Medium" pitchFamily="2" charset="0"/>
              </a:defRPr>
            </a:lvl1pPr>
          </a:lstStyle>
          <a:p>
            <a:r>
              <a:rPr lang="en-US" dirty="0"/>
              <a:t>********</a:t>
            </a:r>
          </a:p>
        </p:txBody>
      </p:sp>
      <p:sp>
        <p:nvSpPr>
          <p:cNvPr id="45" name="TextBox 44">
            <a:extLst>
              <a:ext uri="{FF2B5EF4-FFF2-40B4-BE49-F238E27FC236}">
                <a16:creationId xmlns:a16="http://schemas.microsoft.com/office/drawing/2014/main" id="{1501E4AF-05FD-445F-A7B2-AE200078F5FB}"/>
              </a:ext>
            </a:extLst>
          </p:cNvPr>
          <p:cNvSpPr txBox="1"/>
          <p:nvPr/>
        </p:nvSpPr>
        <p:spPr>
          <a:xfrm>
            <a:off x="404156" y="3903118"/>
            <a:ext cx="4240060" cy="461665"/>
          </a:xfrm>
          <a:prstGeom prst="rect">
            <a:avLst/>
          </a:prstGeom>
          <a:noFill/>
        </p:spPr>
        <p:txBody>
          <a:bodyPr wrap="square">
            <a:spAutoFit/>
          </a:bodyPr>
          <a:lstStyle/>
          <a:p>
            <a:r>
              <a:rPr lang="en-US" sz="1200" spc="-150" dirty="0">
                <a:latin typeface="Hanken Grotesk SemiBold" pitchFamily="2" charset="0"/>
              </a:rPr>
              <a:t>     SEMI-REDACTED PERSONAL INFORMATION IS FOR VERIFICATION THROUGH # OF CHARACTERS.</a:t>
            </a:r>
            <a:endParaRPr lang="en-US" sz="1200" dirty="0"/>
          </a:p>
        </p:txBody>
      </p:sp>
      <p:sp>
        <p:nvSpPr>
          <p:cNvPr id="46" name="TextBox 45">
            <a:extLst>
              <a:ext uri="{FF2B5EF4-FFF2-40B4-BE49-F238E27FC236}">
                <a16:creationId xmlns:a16="http://schemas.microsoft.com/office/drawing/2014/main" id="{F43C86B1-EFAB-23AC-D1BC-9D5AF822721E}"/>
              </a:ext>
            </a:extLst>
          </p:cNvPr>
          <p:cNvSpPr txBox="1"/>
          <p:nvPr/>
        </p:nvSpPr>
        <p:spPr>
          <a:xfrm>
            <a:off x="404156" y="3889805"/>
            <a:ext cx="4240060" cy="369332"/>
          </a:xfrm>
          <a:prstGeom prst="rect">
            <a:avLst/>
          </a:prstGeom>
          <a:noFill/>
        </p:spPr>
        <p:txBody>
          <a:bodyPr wrap="square">
            <a:spAutoFit/>
          </a:bodyPr>
          <a:lstStyle/>
          <a:p>
            <a:r>
              <a:rPr lang="en-US" spc="-150" dirty="0">
                <a:latin typeface="Hanken Grotesk SemiBold" pitchFamily="2" charset="0"/>
              </a:rPr>
              <a:t>*</a:t>
            </a:r>
            <a:endParaRPr lang="en-US" dirty="0"/>
          </a:p>
        </p:txBody>
      </p:sp>
    </p:spTree>
    <p:extLst>
      <p:ext uri="{BB962C8B-B14F-4D97-AF65-F5344CB8AC3E}">
        <p14:creationId xmlns:p14="http://schemas.microsoft.com/office/powerpoint/2010/main" val="18840990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322</TotalTime>
  <Words>2453</Words>
  <Application>Microsoft Office PowerPoint</Application>
  <PresentationFormat>A4 Paper (210x297 mm)</PresentationFormat>
  <Paragraphs>198</Paragraphs>
  <Slides>23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Baskerville Old Face</vt:lpstr>
      <vt:lpstr>Calibri</vt:lpstr>
      <vt:lpstr>Calibri Light</vt:lpstr>
      <vt:lpstr>Hanken Grotesk Medium</vt:lpstr>
      <vt:lpstr>Hanken Grotesk SemiBold</vt:lpstr>
      <vt:lpstr>Office Theme</vt:lpstr>
      <vt:lpstr>PowerPoint Presentation</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Aaditya Rengarajan</dc:creator>
  <cp:lastModifiedBy>Aaditya Rengarajan</cp:lastModifiedBy>
  <cp:revision>14</cp:revision>
  <dcterms:created xsi:type="dcterms:W3CDTF">2025-12-25T15:12:14Z</dcterms:created>
  <dcterms:modified xsi:type="dcterms:W3CDTF">2025-12-25T20:34:28Z</dcterms:modified>
</cp:coreProperties>
</file>